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1341120"/>
            <a:ext cx="457200" cy="21336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341120"/>
            <a:ext cx="457200" cy="10668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692640" y="1234440"/>
            <a:ext cx="457200" cy="21336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149840" y="1127760"/>
            <a:ext cx="457200" cy="10668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1127760"/>
            <a:ext cx="457200" cy="10668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064240" y="914400"/>
            <a:ext cx="457200" cy="32004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150876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129540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140208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04120" y="118872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61320" y="10820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18520" y="118872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75720" y="86868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·  FORECASTING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Analysis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trends, seasonality, stationarity, and forecasting models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Time Series?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or recorded in chronological order — where time itself matters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F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series is data points indexed in time order. Because observations are ordered, the position in time carries information the model can use.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764792" cy="502920"/>
          </a:xfrm>
          <a:prstGeom prst="roundRect">
            <a:avLst>
              <a:gd name="adj" fmla="val 14545"/>
            </a:avLst>
          </a:prstGeom>
          <a:solidFill>
            <a:srgbClr val="DCEE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77640"/>
            <a:ext cx="1764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temperature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3977640"/>
            <a:ext cx="1764792" cy="502920"/>
          </a:xfrm>
          <a:prstGeom prst="roundRect">
            <a:avLst>
              <a:gd name="adj" fmla="val 14545"/>
            </a:avLst>
          </a:prstGeom>
          <a:solidFill>
            <a:srgbClr val="DCEEF3"/>
          </a:solidFill>
          <a:ln/>
        </p:spPr>
      </p:sp>
      <p:sp>
        <p:nvSpPr>
          <p:cNvPr id="10" name="Text 8"/>
          <p:cNvSpPr/>
          <p:nvPr/>
        </p:nvSpPr>
        <p:spPr>
          <a:xfrm>
            <a:off x="2404872" y="3977640"/>
            <a:ext cx="1764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3977640"/>
            <a:ext cx="1764792" cy="502920"/>
          </a:xfrm>
          <a:prstGeom prst="roundRect">
            <a:avLst>
              <a:gd name="adj" fmla="val 14545"/>
            </a:avLst>
          </a:prstGeom>
          <a:solidFill>
            <a:srgbClr val="DCEEF3"/>
          </a:solidFill>
          <a:ln/>
        </p:spPr>
      </p:sp>
      <p:sp>
        <p:nvSpPr>
          <p:cNvPr id="12" name="Text 10"/>
          <p:cNvSpPr/>
          <p:nvPr/>
        </p:nvSpPr>
        <p:spPr>
          <a:xfrm>
            <a:off x="4261104" y="3977640"/>
            <a:ext cx="1764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764792" cy="502920"/>
          </a:xfrm>
          <a:prstGeom prst="roundRect">
            <a:avLst>
              <a:gd name="adj" fmla="val 14545"/>
            </a:avLst>
          </a:prstGeom>
          <a:solidFill>
            <a:srgbClr val="DCEE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72000"/>
            <a:ext cx="1764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electricity usage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04872" y="4572000"/>
            <a:ext cx="1764792" cy="502920"/>
          </a:xfrm>
          <a:prstGeom prst="roundRect">
            <a:avLst>
              <a:gd name="adj" fmla="val 14545"/>
            </a:avLst>
          </a:prstGeom>
          <a:solidFill>
            <a:srgbClr val="DCEEF3"/>
          </a:solidFill>
          <a:ln/>
        </p:spPr>
      </p:sp>
      <p:sp>
        <p:nvSpPr>
          <p:cNvPr id="16" name="Text 14"/>
          <p:cNvSpPr/>
          <p:nvPr/>
        </p:nvSpPr>
        <p:spPr>
          <a:xfrm>
            <a:off x="2404872" y="4572000"/>
            <a:ext cx="1764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website visitors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61104" y="4572000"/>
            <a:ext cx="1764792" cy="502920"/>
          </a:xfrm>
          <a:prstGeom prst="roundRect">
            <a:avLst>
              <a:gd name="adj" fmla="val 14545"/>
            </a:avLst>
          </a:prstGeom>
          <a:solidFill>
            <a:srgbClr val="DCEEF3"/>
          </a:solidFill>
          <a:ln/>
        </p:spPr>
      </p:sp>
      <p:sp>
        <p:nvSpPr>
          <p:cNvPr id="18" name="Text 16"/>
          <p:cNvSpPr/>
          <p:nvPr/>
        </p:nvSpPr>
        <p:spPr>
          <a:xfrm>
            <a:off x="4261104" y="4572000"/>
            <a:ext cx="1764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554480"/>
          <a:ext cx="237744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 flipV="1">
            <a:off x="9235440" y="3322320"/>
            <a:ext cx="594360" cy="79248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9829800" y="2529840"/>
            <a:ext cx="594360" cy="79248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424160" y="2529840"/>
            <a:ext cx="594360" cy="39624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11018520" y="1737360"/>
            <a:ext cx="594360" cy="118872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89720" y="406908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84080" y="327660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78440" y="248412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972800" y="288036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567160" y="16916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3544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 Time Series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series can be thought of as a mix of four building blocks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937760" y="16916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691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1811655" y="2286000"/>
            <a:ext cx="4269105" cy="822960"/>
          </a:xfrm>
          <a:prstGeom prst="line">
            <a:avLst/>
          </a:prstGeom>
          <a:noFill/>
          <a:ln w="15875">
            <a:solidFill>
              <a:srgbClr val="3E7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108960"/>
            <a:ext cx="2526030" cy="640080"/>
          </a:xfrm>
          <a:prstGeom prst="roundRect">
            <a:avLst>
              <a:gd name="adj" fmla="val 11429"/>
            </a:avLst>
          </a:prstGeom>
          <a:solidFill>
            <a:srgbClr val="FF9F1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08960"/>
            <a:ext cx="2526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252603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direction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4657725" y="2286000"/>
            <a:ext cx="1423035" cy="822960"/>
          </a:xfrm>
          <a:prstGeom prst="line">
            <a:avLst/>
          </a:prstGeom>
          <a:noFill/>
          <a:ln w="15875">
            <a:solidFill>
              <a:srgbClr val="3E7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4710" y="3108960"/>
            <a:ext cx="2526030" cy="640080"/>
          </a:xfrm>
          <a:prstGeom prst="roundRect">
            <a:avLst>
              <a:gd name="adj" fmla="val 11429"/>
            </a:avLst>
          </a:prstGeom>
          <a:solidFill>
            <a:srgbClr val="01BAEF"/>
          </a:solidFill>
          <a:ln/>
        </p:spPr>
      </p:sp>
      <p:sp>
        <p:nvSpPr>
          <p:cNvPr id="12" name="Text 10"/>
          <p:cNvSpPr/>
          <p:nvPr/>
        </p:nvSpPr>
        <p:spPr>
          <a:xfrm>
            <a:off x="3394710" y="3108960"/>
            <a:ext cx="2526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94710" y="3886200"/>
            <a:ext cx="252603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repeating pattern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1423035" cy="822960"/>
          </a:xfrm>
          <a:prstGeom prst="line">
            <a:avLst/>
          </a:prstGeom>
          <a:noFill/>
          <a:ln w="15875">
            <a:solidFill>
              <a:srgbClr val="3E76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0780" y="3108960"/>
            <a:ext cx="2526030" cy="640080"/>
          </a:xfrm>
          <a:prstGeom prst="roundRect">
            <a:avLst>
              <a:gd name="adj" fmla="val 11429"/>
            </a:avLst>
          </a:prstGeom>
          <a:solidFill>
            <a:srgbClr val="5BC8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40780" y="3108960"/>
            <a:ext cx="2526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40780" y="3886200"/>
            <a:ext cx="252603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long-term swings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286000"/>
            <a:ext cx="4269105" cy="822960"/>
          </a:xfrm>
          <a:prstGeom prst="line">
            <a:avLst/>
          </a:prstGeom>
          <a:noFill/>
          <a:ln w="15875">
            <a:solidFill>
              <a:srgbClr val="3E76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86850" y="3108960"/>
            <a:ext cx="2526030" cy="640080"/>
          </a:xfrm>
          <a:prstGeom prst="roundRect">
            <a:avLst>
              <a:gd name="adj" fmla="val 11429"/>
            </a:avLst>
          </a:prstGeom>
          <a:solidFill>
            <a:srgbClr val="8E9AAF"/>
          </a:solidFill>
          <a:ln/>
        </p:spPr>
      </p:sp>
      <p:sp>
        <p:nvSpPr>
          <p:cNvPr id="20" name="Text 18"/>
          <p:cNvSpPr/>
          <p:nvPr/>
        </p:nvSpPr>
        <p:spPr>
          <a:xfrm>
            <a:off x="9086850" y="3108960"/>
            <a:ext cx="2526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86850" y="3886200"/>
            <a:ext cx="252603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fluctuation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737360" y="5120640"/>
            <a:ext cx="8686800" cy="960120"/>
          </a:xfrm>
          <a:prstGeom prst="roundRect">
            <a:avLst>
              <a:gd name="adj" fmla="val 9524"/>
            </a:avLst>
          </a:prstGeom>
          <a:solidFill>
            <a:srgbClr val="0E5F80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512064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data ≈ Trend + Seasonality + Cyclic + Noise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&amp; Seasonality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most common patterns in time-series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F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upward or downward movement in the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flipV="1">
            <a:off x="822960" y="3909060"/>
            <a:ext cx="1051560" cy="34290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874520" y="3566160"/>
            <a:ext cx="1051560" cy="34290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926080" y="3223260"/>
            <a:ext cx="1051560" cy="34290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977640" y="2880360"/>
            <a:ext cx="1051560" cy="342900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2062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8633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35204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31775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28346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8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→ 120 → 140 → 160 → 180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an e-commerce company's yearly revenue steadily increasing.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that repeats at a fixed, known frequency.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flipV="1">
            <a:off x="6400800" y="2880360"/>
            <a:ext cx="841248" cy="1371600"/>
          </a:xfrm>
          <a:prstGeom prst="line">
            <a:avLst/>
          </a:prstGeom>
          <a:noFill/>
          <a:ln w="31750">
            <a:solidFill>
              <a:srgbClr val="01BA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42048" y="2880360"/>
            <a:ext cx="841248" cy="1371600"/>
          </a:xfrm>
          <a:prstGeom prst="line">
            <a:avLst/>
          </a:prstGeom>
          <a:noFill/>
          <a:ln w="31750">
            <a:solidFill>
              <a:srgbClr val="01BA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083296" y="2880360"/>
            <a:ext cx="841248" cy="1371600"/>
          </a:xfrm>
          <a:prstGeom prst="line">
            <a:avLst/>
          </a:prstGeom>
          <a:noFill/>
          <a:ln w="31750">
            <a:solidFill>
              <a:srgbClr val="01BA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24544" y="2880360"/>
            <a:ext cx="841248" cy="1371600"/>
          </a:xfrm>
          <a:prstGeom prst="line">
            <a:avLst/>
          </a:prstGeom>
          <a:noFill/>
          <a:ln w="31750">
            <a:solidFill>
              <a:srgbClr val="01BA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765792" y="2880360"/>
            <a:ext cx="841248" cy="1371600"/>
          </a:xfrm>
          <a:prstGeom prst="line">
            <a:avLst/>
          </a:prstGeom>
          <a:noFill/>
          <a:ln w="31750">
            <a:solidFill>
              <a:srgbClr val="01BA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206240"/>
            <a:ext cx="91440" cy="91440"/>
          </a:xfrm>
          <a:prstGeom prst="ellipse">
            <a:avLst/>
          </a:prstGeom>
          <a:solidFill>
            <a:srgbClr val="01BA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96328" y="2834640"/>
            <a:ext cx="91440" cy="91440"/>
          </a:xfrm>
          <a:prstGeom prst="ellipse">
            <a:avLst/>
          </a:prstGeom>
          <a:solidFill>
            <a:srgbClr val="01BA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4206240"/>
            <a:ext cx="91440" cy="91440"/>
          </a:xfrm>
          <a:prstGeom prst="ellipse">
            <a:avLst/>
          </a:prstGeom>
          <a:solidFill>
            <a:srgbClr val="01BA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8824" y="2834640"/>
            <a:ext cx="91440" cy="91440"/>
          </a:xfrm>
          <a:prstGeom prst="ellipse">
            <a:avLst/>
          </a:prstGeom>
          <a:solidFill>
            <a:srgbClr val="01BA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20072" y="4206240"/>
            <a:ext cx="91440" cy="91440"/>
          </a:xfrm>
          <a:prstGeom prst="ellipse">
            <a:avLst/>
          </a:prstGeom>
          <a:solidFill>
            <a:srgbClr val="01BA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61320" y="2834640"/>
            <a:ext cx="91440" cy="91440"/>
          </a:xfrm>
          <a:prstGeom prst="ellipse">
            <a:avLst/>
          </a:prstGeom>
          <a:solidFill>
            <a:srgbClr val="01BA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Summer → High · Winter → Low · repeat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892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example: Diwali → high sales, normal months → lower sales, Diwali → high sales again.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rise and fall without a fixed period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96112" y="17373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7373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70632" y="2125980"/>
            <a:ext cx="256032" cy="0"/>
          </a:xfrm>
          <a:prstGeom prst="line">
            <a:avLst/>
          </a:prstGeom>
          <a:noFill/>
          <a:ln w="22225">
            <a:solidFill>
              <a:srgbClr val="5A788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26664" y="17373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1BAEF"/>
          </a:solidFill>
          <a:ln/>
        </p:spPr>
      </p:sp>
      <p:sp>
        <p:nvSpPr>
          <p:cNvPr id="8" name="Text 6"/>
          <p:cNvSpPr/>
          <p:nvPr/>
        </p:nvSpPr>
        <p:spPr>
          <a:xfrm>
            <a:off x="3026664" y="17373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Slowdown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01184" y="2125980"/>
            <a:ext cx="256032" cy="0"/>
          </a:xfrm>
          <a:prstGeom prst="line">
            <a:avLst/>
          </a:prstGeom>
          <a:noFill/>
          <a:ln w="22225">
            <a:solidFill>
              <a:srgbClr val="5A78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57216" y="17373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5157216" y="17373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31736" y="2125980"/>
            <a:ext cx="256032" cy="0"/>
          </a:xfrm>
          <a:prstGeom prst="line">
            <a:avLst/>
          </a:prstGeom>
          <a:noFill/>
          <a:ln w="22225">
            <a:solidFill>
              <a:srgbClr val="5A788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87768" y="17373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1BAEF"/>
          </a:solidFill>
          <a:ln/>
        </p:spPr>
      </p:sp>
      <p:sp>
        <p:nvSpPr>
          <p:cNvPr id="14" name="Text 12"/>
          <p:cNvSpPr/>
          <p:nvPr/>
        </p:nvSpPr>
        <p:spPr>
          <a:xfrm>
            <a:off x="7287768" y="17373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62288" y="2125980"/>
            <a:ext cx="256032" cy="0"/>
          </a:xfrm>
          <a:prstGeom prst="line">
            <a:avLst/>
          </a:prstGeom>
          <a:noFill/>
          <a:ln w="22225">
            <a:solidFill>
              <a:srgbClr val="5A788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18320" y="17373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17373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vary in length — unlike seasonality, they aren't tied to the calendar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3200400"/>
          <a:ext cx="9601200" cy="219456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/ repeating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vary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/ monthly / yearly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tied to economic cycles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predictable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fluctuations that the main patterns can't explain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023360"/>
          </a:xfrm>
          <a:prstGeom prst="roundRect">
            <a:avLst>
              <a:gd name="adj" fmla="val 2273"/>
            </a:avLst>
          </a:prstGeom>
          <a:solidFill>
            <a:srgbClr val="0E5F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accounting for trend, seasonality, and cyclic effects, real data still wiggles — that unexplained part is noise.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1B709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Sales = 500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9F1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Sales = 473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of 27 units may simply be random — not a real pattern.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0E5F8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3977640"/>
            <a:ext cx="613954" cy="0"/>
          </a:xfrm>
          <a:prstGeom prst="line">
            <a:avLst/>
          </a:prstGeom>
          <a:noFill/>
          <a:ln w="19050">
            <a:solidFill>
              <a:srgbClr val="BE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6194" y="3977640"/>
            <a:ext cx="613954" cy="0"/>
          </a:xfrm>
          <a:prstGeom prst="line">
            <a:avLst/>
          </a:prstGeom>
          <a:noFill/>
          <a:ln w="19050">
            <a:solidFill>
              <a:srgbClr val="BE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0149" y="3977640"/>
            <a:ext cx="613954" cy="0"/>
          </a:xfrm>
          <a:prstGeom prst="line">
            <a:avLst/>
          </a:prstGeom>
          <a:noFill/>
          <a:ln w="19050">
            <a:solidFill>
              <a:srgbClr val="BE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4103" y="3977640"/>
            <a:ext cx="613954" cy="0"/>
          </a:xfrm>
          <a:prstGeom prst="line">
            <a:avLst/>
          </a:prstGeom>
          <a:noFill/>
          <a:ln w="19050">
            <a:solidFill>
              <a:srgbClr val="BE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48057" y="3977640"/>
            <a:ext cx="613954" cy="0"/>
          </a:xfrm>
          <a:prstGeom prst="line">
            <a:avLst/>
          </a:prstGeom>
          <a:noFill/>
          <a:ln w="19050">
            <a:solidFill>
              <a:srgbClr val="BE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62011" y="3977640"/>
            <a:ext cx="613954" cy="0"/>
          </a:xfrm>
          <a:prstGeom prst="line">
            <a:avLst/>
          </a:prstGeom>
          <a:noFill/>
          <a:ln w="19050">
            <a:solidFill>
              <a:srgbClr val="BE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75966" y="3977640"/>
            <a:ext cx="613954" cy="0"/>
          </a:xfrm>
          <a:prstGeom prst="line">
            <a:avLst/>
          </a:prstGeom>
          <a:noFill/>
          <a:ln w="19050">
            <a:solidFill>
              <a:srgbClr val="BE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492240" y="3611880"/>
            <a:ext cx="613954" cy="54864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6194" y="3611880"/>
            <a:ext cx="613954" cy="73152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7720149" y="3520440"/>
            <a:ext cx="613954" cy="82296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4103" y="3520440"/>
            <a:ext cx="613954" cy="54864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8948057" y="3794760"/>
            <a:ext cx="613954" cy="27432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62011" y="3794760"/>
            <a:ext cx="613954" cy="64008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175966" y="3429000"/>
            <a:ext cx="613954" cy="100584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11480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60474" y="356616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4429" y="429768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8383" y="347472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02337" y="402336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16291" y="37490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30246" y="438912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44200" y="338328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257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actual data · Light line = underlying pattern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Monthly Sales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indexing, and plotting a time series with pandas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0729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577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"Date": pd.date_range(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start="2023-01-01",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periods=24, freq="MS"),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"Sales": [100, 110, 120, ...]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df.set_index("Date", inplace=True)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df["Sales"].plot()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plt.title("Monthly Sales")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EFF8F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7315200" y="4909930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482177" y="4790661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649155" y="4671391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816132" y="4552122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983110" y="4432852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150087" y="4313583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317064" y="4194313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484042" y="4075043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8651019" y="3955774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817997" y="3836504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984974" y="3717235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151951" y="3597965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318929" y="3478696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485906" y="3359426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652883" y="3240157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819861" y="3120887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986838" y="3001617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153816" y="2882348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320793" y="2763078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487770" y="2643809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654748" y="2524539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821725" y="2405270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0988703" y="2286000"/>
            <a:ext cx="166977" cy="119270"/>
          </a:xfrm>
          <a:prstGeom prst="line">
            <a:avLst/>
          </a:prstGeom>
          <a:noFill/>
          <a:ln w="25400">
            <a:solidFill>
              <a:srgbClr val="FF9F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5303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upward trend is visible across all 24 months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Stationarity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series whose statistical properties don't change over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F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stationary series has a relatively constant mean, constant variance, and a relationship with past values that doesn't change substantially over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DEE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flipV="1">
            <a:off x="822960" y="4639056"/>
            <a:ext cx="914400" cy="207264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737360" y="4328160"/>
            <a:ext cx="914400" cy="310896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651760" y="4017264"/>
            <a:ext cx="914400" cy="310896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566160" y="3706368"/>
            <a:ext cx="914400" cy="310896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480560" y="3291840"/>
            <a:ext cx="914400" cy="414528"/>
          </a:xfrm>
          <a:prstGeom prst="line">
            <a:avLst/>
          </a:prstGeom>
          <a:noFill/>
          <a:ln w="31750">
            <a:solidFill>
              <a:srgbClr val="FF9F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80060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1640" y="4593336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428244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3971544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3660648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246120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83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 120, 150, 180, 210, 250 — the mean keeps increasing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6974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DCEE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3998422"/>
            <a:ext cx="914400" cy="282633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7315200" y="4069080"/>
            <a:ext cx="914400" cy="211975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069080"/>
            <a:ext cx="914400" cy="141316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144000" y="3927764"/>
            <a:ext cx="914400" cy="282633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0" y="3927764"/>
            <a:ext cx="914400" cy="211975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952702"/>
            <a:ext cx="91440" cy="914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4235335"/>
            <a:ext cx="91440" cy="914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4023360"/>
            <a:ext cx="91440" cy="914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98280" y="4164676"/>
            <a:ext cx="91440" cy="914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12680" y="3882044"/>
            <a:ext cx="91440" cy="914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27080" y="4094018"/>
            <a:ext cx="91440" cy="914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983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 98, 101, 99, 103, 100 — fluctuates around a stable mean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Data Stationary: Differencing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ARIMA work best on stationary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566160" y="160020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600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Y′ₜ = Yₜ − Yₜ₋₁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2697480"/>
          <a:ext cx="77724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9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9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9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09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120 − 100 = 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F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150 − 120 = 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70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C6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737360" y="480060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FF9F1C"/>
          </a:solidFill>
          <a:ln/>
        </p:spPr>
      </p:sp>
      <p:sp>
        <p:nvSpPr>
          <p:cNvPr id="8" name="Text 5"/>
          <p:cNvSpPr/>
          <p:nvPr/>
        </p:nvSpPr>
        <p:spPr>
          <a:xfrm>
            <a:off x="2011680" y="480060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is non-stationary, differencing (subtracting the previous value) often removes the trend and stabilizes the mean.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ADF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Dickey-Fuller — a statistical test for stationarity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056132"/>
          </a:xfrm>
          <a:prstGeom prst="roundRect">
            <a:avLst>
              <a:gd name="adj" fmla="val 6926"/>
            </a:avLst>
          </a:prstGeom>
          <a:solidFill>
            <a:srgbClr val="EFF8FA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Series is non-stationary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600200"/>
            <a:ext cx="5120640" cy="1056132"/>
          </a:xfrm>
          <a:prstGeom prst="roundRect">
            <a:avLst>
              <a:gd name="adj" fmla="val 6926"/>
            </a:avLst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600200"/>
            <a:ext cx="512064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Series is stationary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0607040" cy="13716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 &lt; 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is likely stationary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 ≥ 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is likely non-stationary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29768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07293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4348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statsmodels.tsa.stattools import adfuller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adfuller(df["Sales"].dropna())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print("ADF Statistic:", result[0])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print("p-value:", result[1])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result[1] &lt; 0.05: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print("Series is stationary")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Preprocessing: Resampling &amp; Smoothing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 time series before modeling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F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frequency of time-series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data → Monthly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data → Daily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4572000" cy="1417320"/>
          </a:xfrm>
          <a:prstGeom prst="roundRect">
            <a:avLst>
              <a:gd name="adj" fmla="val 3871"/>
            </a:avLst>
          </a:prstGeom>
          <a:solidFill>
            <a:srgbClr val="0729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25196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monthly_sales = df["Sales"]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.resample("ME").sum()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short-term fluctuations so the underlying trend is easier to see — commonly via a moving average.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306324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+ 120 + 140) / 3  =  120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3886200"/>
            <a:ext cx="4572000" cy="1645920"/>
          </a:xfrm>
          <a:prstGeom prst="roundRect">
            <a:avLst>
              <a:gd name="adj" fmla="val 3333"/>
            </a:avLst>
          </a:prstGeom>
          <a:solidFill>
            <a:srgbClr val="0A4C6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02336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df["Rolling_Mean"] = df["Sales"]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.rolling(window=3).mean()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Stabilizing variance and making a series easier to model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large values and stabilizes variance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EFF8F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the previous value to remove trend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EFF8FA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Square-Root Transformation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gentler alternative to log for stabilizing variance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0729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0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EXAMPLE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df["Log_Sales"] = np.log(df["Sales"])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E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Models: AR → MA → ARMA → ARIMA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up from simple to more complete models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16916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0E5F80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6916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previous values to predict the current one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99816" y="1965960"/>
            <a:ext cx="320040" cy="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19856" y="16916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0E5F80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6916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19856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previous forecast errors to predict the current 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34456" y="1965960"/>
            <a:ext cx="320040" cy="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54496" y="16916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0E5F80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6916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54496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AR + MA; used for stationary series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69096" y="1965960"/>
            <a:ext cx="320040" cy="0"/>
          </a:xfrm>
          <a:prstGeom prst="line">
            <a:avLst/>
          </a:prstGeom>
          <a:noFill/>
          <a:ln w="22225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89136" y="16916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F9F1C"/>
          </a:solidFill>
          <a:ln/>
        </p:spPr>
      </p:sp>
      <p:sp>
        <p:nvSpPr>
          <p:cNvPr id="17" name="Text 15"/>
          <p:cNvSpPr/>
          <p:nvPr/>
        </p:nvSpPr>
        <p:spPr>
          <a:xfrm>
            <a:off x="9089136" y="16916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89136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+ differencing (“I”) for non-stationary series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37360" y="370332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3703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ARIMA(p, d, q)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3413760" cy="502920"/>
          </a:xfrm>
          <a:prstGeom prst="roundRect">
            <a:avLst>
              <a:gd name="adj" fmla="val 14545"/>
            </a:avLst>
          </a:prstGeom>
          <a:solidFill>
            <a:srgbClr val="FF9F1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09160"/>
            <a:ext cx="341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341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component (past values)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3880" y="4709160"/>
            <a:ext cx="3413760" cy="502920"/>
          </a:xfrm>
          <a:prstGeom prst="roundRect">
            <a:avLst>
              <a:gd name="adj" fmla="val 14545"/>
            </a:avLst>
          </a:prstGeom>
          <a:solidFill>
            <a:srgbClr val="FF9F1C"/>
          </a:solidFill>
          <a:ln/>
        </p:spPr>
      </p:sp>
      <p:sp>
        <p:nvSpPr>
          <p:cNvPr id="25" name="Text 23"/>
          <p:cNvSpPr/>
          <p:nvPr/>
        </p:nvSpPr>
        <p:spPr>
          <a:xfrm>
            <a:off x="4373880" y="4709160"/>
            <a:ext cx="341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73880" y="5257800"/>
            <a:ext cx="341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(to remove trend)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07680" y="4709160"/>
            <a:ext cx="3413760" cy="502920"/>
          </a:xfrm>
          <a:prstGeom prst="roundRect">
            <a:avLst>
              <a:gd name="adj" fmla="val 14545"/>
            </a:avLst>
          </a:prstGeom>
          <a:solidFill>
            <a:srgbClr val="FF9F1C"/>
          </a:solidFill>
          <a:ln/>
        </p:spPr>
      </p:sp>
      <p:sp>
        <p:nvSpPr>
          <p:cNvPr id="28" name="Text 26"/>
          <p:cNvSpPr/>
          <p:nvPr/>
        </p:nvSpPr>
        <p:spPr>
          <a:xfrm>
            <a:off x="8107680" y="4709160"/>
            <a:ext cx="341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07680" y="5257800"/>
            <a:ext cx="341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component (past errors)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ARIMA(1,1,1) → one AR term, first-order differencing, one MA term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time-series analysis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2598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series is data ordered by time — trend, seasonality, cyclic patterns, and noise combine to shape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2598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180136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a long-term direction; seasonality repeats on a fixed schedule; cyclic swings don't have a fixed period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8902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890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26440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(stable mean &amp; variance) is important because models like ARIMA work best on stationary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58902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5890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26440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and the ADF test help detect and fix non-stationarity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05206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520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72744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Resampling, smoothing, and transformations (log, sqrt) prepare data for modeling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5052060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0520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472744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AR, MA, ARMA, and ARIMA build on each other to forecast future values from past data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2026-09-11T03:35:46Z</dcterms:created>
  <dcterms:modified xsi:type="dcterms:W3CDTF">2026-09-11T03:35:46Z</dcterms:modified>
</cp:coreProperties>
</file>