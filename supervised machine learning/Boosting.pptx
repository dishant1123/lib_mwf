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512064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weak learners to strong models — AdaBoost, Gradient Boosting, and where boosting is used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162306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114800"/>
            <a:ext cx="1623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Learners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55748" y="41148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55748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54196" y="4114800"/>
            <a:ext cx="2043684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54196" y="4114800"/>
            <a:ext cx="2043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99048" y="4114800"/>
            <a:ext cx="1833372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99048" y="4114800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Boosting?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</a:t>
            </a:r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ensemble machine learning technique that combines multiple weak learners to create a strong learner.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Idea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4892040" cy="594360"/>
          </a:xfrm>
          <a:prstGeom prst="roundRect">
            <a:avLst>
              <a:gd name="adj" fmla="val 10769"/>
            </a:avLst>
          </a:prstGeom>
          <a:solidFill>
            <a:srgbClr val="2E3A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8346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4892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3511296"/>
            <a:ext cx="4892040" cy="594360"/>
          </a:xfrm>
          <a:prstGeom prst="roundRect">
            <a:avLst>
              <a:gd name="adj" fmla="val 10769"/>
            </a:avLst>
          </a:prstGeom>
          <a:solidFill>
            <a:srgbClr val="2E3A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511296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mistakes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05656"/>
            <a:ext cx="4892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4187952"/>
            <a:ext cx="4892040" cy="594360"/>
          </a:xfrm>
          <a:prstGeom prst="roundRect">
            <a:avLst>
              <a:gd name="adj" fmla="val 10769"/>
            </a:avLst>
          </a:prstGeom>
          <a:solidFill>
            <a:srgbClr val="2E3A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18795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more importance to difficult examples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82312"/>
            <a:ext cx="4892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4864608"/>
            <a:ext cx="4892040" cy="594360"/>
          </a:xfrm>
          <a:prstGeom prst="roundRect">
            <a:avLst>
              <a:gd name="adj" fmla="val 10769"/>
            </a:avLst>
          </a:prstGeom>
          <a:solidFill>
            <a:srgbClr val="2E3A7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86460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another model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458968"/>
            <a:ext cx="4892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5541264"/>
            <a:ext cx="4892040" cy="594360"/>
          </a:xfrm>
          <a:prstGeom prst="roundRect">
            <a:avLst>
              <a:gd name="adj" fmla="val 10769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554126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models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219456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24231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Predicting Churn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customer will Churn (1) or Not Churn (0).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35661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3796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35478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10 mistakes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37960" y="41330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3796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more on those mistakes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37960" y="470001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3796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46817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the remaining difficult cases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37960" y="5312664"/>
            <a:ext cx="484632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37960" y="543153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Finally, all models are combined to make the prediction.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Learner vs. Strong Learner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Learner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performs only slightly better than random guessing.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24612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E8F1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364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6393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Tree with max_depth = 1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called a Decision Stump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stump alone gives limited predictive power — the value comes from combining many of them.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55448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Learner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created by combining many weak learners.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306324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2E3A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Model 1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474720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3547872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2E3A7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35478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Model 2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959352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83680" y="4032504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2E3A7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40325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Model 3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443984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0" y="4517136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2E3A7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0" y="45171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Model 4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4928616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5001768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0" y="50017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Model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ALGORITHMS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Boosting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49224"/>
          </a:xfrm>
          <a:prstGeom prst="roundRect">
            <a:avLst>
              <a:gd name="adj" fmla="val 11268"/>
            </a:avLst>
          </a:prstGeom>
          <a:solidFill>
            <a:srgbClr val="E8F1F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8191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81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508760"/>
            <a:ext cx="7955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more weight to incorrectly classified observations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649224"/>
          </a:xfrm>
          <a:prstGeom prst="roundRect">
            <a:avLst>
              <a:gd name="adj" fmla="val 11268"/>
            </a:avLst>
          </a:prstGeom>
          <a:solidFill>
            <a:srgbClr val="E8F1F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35915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359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286000"/>
            <a:ext cx="7955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models learn from the previous model's errors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6424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13639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136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063240"/>
            <a:ext cx="7955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and regularized gradient boosting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6424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91363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9136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840480"/>
            <a:ext cx="7955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gradient boosting, especially for large datasets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69087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6908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4617720"/>
            <a:ext cx="7955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with strong support for categorical data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session, we focus on:  AdaBoost + Gradient Boosting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ALGORITHMS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Gradient Boosting 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builds trees sequentially — each new tree is trained to improve the existing ensemble.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57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6557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684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187952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1879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Predictions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9087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910328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9103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mistakes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3794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233672" y="205740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33672" y="2057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33672" y="2743200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25112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Errors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233672" y="324612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33672" y="3465576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25112" y="346557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2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233672" y="39684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33672" y="4187952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25112" y="41879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Prediction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662672" y="3794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918704" y="205740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18704" y="2057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3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18704" y="2743200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10144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Errors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918704" y="324612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18704" y="3465576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10144" y="346557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3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918704" y="39684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18704" y="4187952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10144" y="41879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Improvement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1 + Tree 2 + Tree 3 + ...  leads to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Strong Model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TUNING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Parameters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6177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3154680" cy="822960"/>
          </a:xfrm>
          <a:prstGeom prst="roundRect">
            <a:avLst>
              <a:gd name="adj" fmla="val 7778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423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GradientBoostingClassifier(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n_estimators=100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trees — 100 weak learners.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069080"/>
            <a:ext cx="315468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trees can improve learning, but too many can increase training time and potentially overfit.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611880" cy="46177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0" y="2423160"/>
            <a:ext cx="3154680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09160" y="2423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learning_rate=0.1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429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much contribution each new tree makes.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0" y="4069080"/>
            <a:ext cx="315468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420624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→ slow learning, usually needs more trees.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→ faster learning, can overfit more easily.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8160" y="1554480"/>
            <a:ext cx="3611880" cy="46177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66760" y="17830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66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66760" y="2423160"/>
            <a:ext cx="3154680" cy="822960"/>
          </a:xfrm>
          <a:prstGeom prst="roundRect">
            <a:avLst>
              <a:gd name="adj" fmla="val 7778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03920" y="2423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max_depth=3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3429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depth of each decision tree.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66760" y="4069080"/>
            <a:ext cx="315468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66760" y="420624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depth → simple trees, less complex.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depth → complex trees, higher overfitting risk.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ADABOOST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 — Practical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\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AdaBoostClassifier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ada_model = AdaBoostClassifier(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n_estimators=50,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learning_rate=1.0,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ada_model.fit(X_train, y_train)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ada_pred = ada_model.predict(X_test)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print("AdaBoost Accuracy:",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accuracy_score(y_test, ada_pred))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50876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Understanding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37960" y="2148840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E8F1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21488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1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509760" y="21488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37960" y="2606040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E8F1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0840" y="26060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509760" y="26060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3063240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FBE4E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30632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509760" y="30632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3520440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E8F1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35204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4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509760" y="35204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3977640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FBE4E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39776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5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39776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gives more attention to the misclassified cases: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4937760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B850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4937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3   ·   Customer 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5577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weak learner focuses more on those difficult observations.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COMPARISON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 vs. Gradient Boosting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5349240" cy="73152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534924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2468880"/>
            <a:ext cx="274320" cy="274320"/>
          </a:xfrm>
          <a:prstGeom prst="ellipse">
            <a:avLst/>
          </a:prstGeom>
          <a:solidFill>
            <a:srgbClr val="E8F1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957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incorrectly classified observations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182112"/>
            <a:ext cx="274320" cy="274320"/>
          </a:xfrm>
          <a:prstGeom prst="ellipse">
            <a:avLst/>
          </a:prstGeom>
          <a:solidFill>
            <a:srgbClr val="E8F1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108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observation weights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895344"/>
            <a:ext cx="274320" cy="274320"/>
          </a:xfrm>
          <a:prstGeom prst="ellipse">
            <a:avLst/>
          </a:prstGeom>
          <a:solidFill>
            <a:srgbClr val="E8F1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8221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uses weak decision trees (stumps)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608576"/>
            <a:ext cx="274320" cy="274320"/>
          </a:xfrm>
          <a:prstGeom prst="ellipse">
            <a:avLst/>
          </a:prstGeom>
          <a:solidFill>
            <a:srgbClr val="E8F1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5354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learning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5321808"/>
            <a:ext cx="274320" cy="274320"/>
          </a:xfrm>
          <a:prstGeom prst="ellipse">
            <a:avLst/>
          </a:prstGeom>
          <a:solidFill>
            <a:srgbClr val="E8F1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486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commonly used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150876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1508760"/>
            <a:ext cx="5349240" cy="73152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1920240"/>
            <a:ext cx="53492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150876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583680" y="2468880"/>
            <a:ext cx="274320" cy="274320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23957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reducing prediction errors / loss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3182112"/>
            <a:ext cx="274320" cy="274320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3108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new learners to residual/error information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0" y="3895344"/>
            <a:ext cx="274320" cy="274320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38221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uses decision trees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83680" y="4608576"/>
            <a:ext cx="274320" cy="274320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0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45354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learning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583680" y="5321808"/>
            <a:ext cx="274320" cy="274320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83680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995160" y="52486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and regression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APPLICATIONS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2651760" cy="96012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265176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871216"/>
            <a:ext cx="100584" cy="1005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87552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438144"/>
            <a:ext cx="100584" cy="1005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7552" y="3355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005072"/>
            <a:ext cx="100584" cy="1005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7552" y="3922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01568" y="160020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01568" y="1600200"/>
            <a:ext cx="2651760" cy="96012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3401568" y="2148840"/>
            <a:ext cx="265176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01568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3401568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30168" y="287121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4048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30168" y="343814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40480" y="3355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30168" y="400507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840480" y="3922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54496" y="160020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54496" y="1600200"/>
            <a:ext cx="2651760" cy="96012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</p:spPr>
      </p:sp>
      <p:sp>
        <p:nvSpPr>
          <p:cNvPr id="28" name="Shape 26"/>
          <p:cNvSpPr/>
          <p:nvPr/>
        </p:nvSpPr>
        <p:spPr>
          <a:xfrm>
            <a:off x="6254496" y="2148840"/>
            <a:ext cx="265176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54496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6254496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83096" y="2871216"/>
            <a:ext cx="100584" cy="10058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93408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Risk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83096" y="3438144"/>
            <a:ext cx="100584" cy="10058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93408" y="3355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Readmission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07424" y="160020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07424" y="1600200"/>
            <a:ext cx="2651760" cy="960120"/>
          </a:xfrm>
          <a:prstGeom prst="roundRect">
            <a:avLst>
              <a:gd name="adj" fmla="val 11429"/>
            </a:avLst>
          </a:prstGeom>
          <a:solidFill>
            <a:srgbClr val="50808E"/>
          </a:solidFill>
          <a:ln/>
        </p:spPr>
      </p:sp>
      <p:sp>
        <p:nvSpPr>
          <p:cNvPr id="37" name="Shape 35"/>
          <p:cNvSpPr/>
          <p:nvPr/>
        </p:nvSpPr>
        <p:spPr>
          <a:xfrm>
            <a:off x="9107424" y="2148840"/>
            <a:ext cx="2651760" cy="411480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07424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9107424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336024" y="2871216"/>
            <a:ext cx="100584" cy="100584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546336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Risk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336024" y="3438144"/>
            <a:ext cx="100584" cy="100584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546336" y="3355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Claims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336024" y="4005072"/>
            <a:ext cx="100584" cy="100584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546336" y="3922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2026-09-18T02:13:13Z</dcterms:created>
  <dcterms:modified xsi:type="dcterms:W3CDTF">2026-09-18T02:13:13Z</dcterms:modified>
</cp:coreProperties>
</file>