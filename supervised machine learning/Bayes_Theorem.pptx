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777240"/>
            <a:ext cx="384048" cy="384048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3" name="Shape 1"/>
          <p:cNvSpPr/>
          <p:nvPr/>
        </p:nvSpPr>
        <p:spPr>
          <a:xfrm>
            <a:off x="9070848" y="969264"/>
            <a:ext cx="640080" cy="0"/>
          </a:xfrm>
          <a:prstGeom prst="line">
            <a:avLst/>
          </a:prstGeom>
          <a:noFill/>
          <a:ln w="22225">
            <a:solidFill>
              <a:srgbClr val="6FAE8C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9738360" y="777240"/>
            <a:ext cx="384048" cy="384048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5" name="Shape 3"/>
          <p:cNvSpPr/>
          <p:nvPr/>
        </p:nvSpPr>
        <p:spPr>
          <a:xfrm>
            <a:off x="10122408" y="969264"/>
            <a:ext cx="640080" cy="0"/>
          </a:xfrm>
          <a:prstGeom prst="line">
            <a:avLst/>
          </a:prstGeom>
          <a:noFill/>
          <a:ln w="22225">
            <a:solidFill>
              <a:srgbClr val="6FAE8C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0789920" y="777240"/>
            <a:ext cx="384048" cy="38404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 ·  PROBABILITY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395728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 Theorem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6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our beliefs should change when new evidence arrives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Bayes Theorem?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method for updating probability with new evidence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4389120"/>
          </a:xfrm>
          <a:prstGeom prst="roundRect">
            <a:avLst>
              <a:gd name="adj" fmla="val 2083"/>
            </a:avLst>
          </a:prstGeom>
          <a:solidFill>
            <a:srgbClr val="F1F8F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Theorem tells us how our belief about something changes after receiving new evidence.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statistical method used to update the probability of an event when new information becomes available.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3886200"/>
            <a:ext cx="4480560" cy="0"/>
          </a:xfrm>
          <a:prstGeom prst="line">
            <a:avLst/>
          </a:prstGeom>
          <a:noFill/>
          <a:ln w="12700">
            <a:solidFill>
              <a:srgbClr val="D7E8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690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38912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usually has a 10% chance of buying. After seeing they visited the pricing page, we update that probability.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192024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F1F8F4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1920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Belief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chance to buy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869680" y="2514600"/>
            <a:ext cx="0" cy="457200"/>
          </a:xfrm>
          <a:prstGeom prst="line">
            <a:avLst/>
          </a:prstGeom>
          <a:noFill/>
          <a:ln w="22225">
            <a:solidFill>
              <a:srgbClr val="40916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680960" y="297180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40916C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0" y="29718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Evidence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Visited pricing page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869680" y="3566160"/>
            <a:ext cx="0" cy="457200"/>
          </a:xfrm>
          <a:prstGeom prst="line">
            <a:avLst/>
          </a:prstGeom>
          <a:noFill/>
          <a:ln w="22225">
            <a:solidFill>
              <a:srgbClr val="40916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680960" y="402336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E9C46A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0" y="40233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Belief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probability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Bayes Theorem Formula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what we believed with what we've observed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965960" y="1691640"/>
            <a:ext cx="82296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169164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i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 | B)  =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754880" y="18745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P(B | A) × P(A)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754880" y="2468880"/>
            <a:ext cx="3291840" cy="0"/>
          </a:xfrm>
          <a:prstGeom prst="line">
            <a:avLst/>
          </a:prstGeom>
          <a:noFill/>
          <a:ln w="25400">
            <a:solidFill>
              <a:srgbClr val="1B2A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25420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P(B)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2F6B4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7947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423367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probability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83280" y="361188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2F6B4F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37947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P(B | A)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66160" y="423367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evidence B when A is true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361188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2F6B4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37947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P(B)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0" y="423367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probability of evidence B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52560" y="361188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2F6B4F"/>
          </a:solidFill>
          <a:ln/>
        </p:spPr>
      </p:sp>
      <p:sp>
        <p:nvSpPr>
          <p:cNvPr id="19" name="Text 17"/>
          <p:cNvSpPr/>
          <p:nvPr/>
        </p:nvSpPr>
        <p:spPr>
          <a:xfrm>
            <a:off x="9235440" y="37947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P(A | B)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235440" y="423367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probability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651760" y="5349240"/>
            <a:ext cx="6858000" cy="777240"/>
          </a:xfrm>
          <a:prstGeom prst="roundRect">
            <a:avLst>
              <a:gd name="adj" fmla="val 11765"/>
            </a:avLst>
          </a:prstGeom>
          <a:solidFill>
            <a:srgbClr val="E9C46A"/>
          </a:solidFill>
          <a:ln/>
        </p:spPr>
      </p:sp>
      <p:sp>
        <p:nvSpPr>
          <p:cNvPr id="22" name="Text 20"/>
          <p:cNvSpPr/>
          <p:nvPr/>
        </p:nvSpPr>
        <p:spPr>
          <a:xfrm>
            <a:off x="2651760" y="534924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 +  New Evidence  →  Posterior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 vs. Posterior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believed before, and what we believe after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1F8F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PROBABILITY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believe before seeing new evidence.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2971800"/>
            <a:ext cx="44805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200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knows from historical data that: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37033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customers cancel their subscription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438912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40916C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3891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= 20%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1B4332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8288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PROBABILITY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2402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E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updated probability after receiving new evidence.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46520" y="2971800"/>
            <a:ext cx="4480560" cy="2377440"/>
          </a:xfrm>
          <a:prstGeom prst="roundRect">
            <a:avLst>
              <a:gd name="adj" fmla="val 3077"/>
            </a:avLst>
          </a:prstGeom>
          <a:solidFill>
            <a:srgbClr val="2F6B4F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32004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contacts support multiple times — customers who do this are more likely to cancel.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75120" y="41148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4114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92440" y="4389120"/>
            <a:ext cx="502920" cy="0"/>
          </a:xfrm>
          <a:prstGeom prst="line">
            <a:avLst/>
          </a:prstGeom>
          <a:noFill/>
          <a:ln w="22225">
            <a:solidFill>
              <a:srgbClr val="E9C46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641080" y="41148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E9C46A"/>
          </a:solidFill>
          <a:ln/>
        </p:spPr>
      </p:sp>
      <p:sp>
        <p:nvSpPr>
          <p:cNvPr id="21" name="Text 19"/>
          <p:cNvSpPr/>
          <p:nvPr/>
        </p:nvSpPr>
        <p:spPr>
          <a:xfrm>
            <a:off x="8641080" y="4114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75120" y="4892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= 45%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A Medical Test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disease prevalence · 90% detection rate · 5% false-positive rate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42916" y="169164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5042916" y="1691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People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94476" y="2240280"/>
            <a:ext cx="2743200" cy="50292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4476" y="2240280"/>
            <a:ext cx="2409444" cy="50292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27432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F1F8F4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2743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Disease (1%)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people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52360" y="27432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F1F8F4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52360" y="2743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Disease (99%)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9,900 people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3383280"/>
            <a:ext cx="0" cy="411480"/>
          </a:xfrm>
          <a:prstGeom prst="line">
            <a:avLst/>
          </a:prstGeom>
          <a:noFill/>
          <a:ln w="22225">
            <a:solidFill>
              <a:srgbClr val="40916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503920" y="3383280"/>
            <a:ext cx="0" cy="411480"/>
          </a:xfrm>
          <a:prstGeom prst="line">
            <a:avLst/>
          </a:prstGeom>
          <a:noFill/>
          <a:ln w="22225">
            <a:solidFill>
              <a:srgbClr val="40916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691640" y="379476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40916C"/>
          </a:solidFill>
          <a:ln/>
        </p:spPr>
      </p:sp>
      <p:sp>
        <p:nvSpPr>
          <p:cNvPr id="15" name="Text 13"/>
          <p:cNvSpPr/>
          <p:nvPr/>
        </p:nvSpPr>
        <p:spPr>
          <a:xfrm>
            <a:off x="1691640" y="37947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people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52360" y="379476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E9C46A"/>
          </a:solidFill>
          <a:ln/>
        </p:spPr>
      </p:sp>
      <p:sp>
        <p:nvSpPr>
          <p:cNvPr id="17" name="Text 15"/>
          <p:cNvSpPr/>
          <p:nvPr/>
        </p:nvSpPr>
        <p:spPr>
          <a:xfrm>
            <a:off x="7452360" y="37947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495 people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0" y="4434840"/>
            <a:ext cx="3351276" cy="45720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4434840"/>
            <a:ext cx="-2409444" cy="457200"/>
          </a:xfrm>
          <a:prstGeom prst="line">
            <a:avLst/>
          </a:prstGeom>
          <a:noFill/>
          <a:ln w="19050">
            <a:solidFill>
              <a:srgbClr val="40916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19956" y="489204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/>
        </p:spPr>
      </p:sp>
      <p:sp>
        <p:nvSpPr>
          <p:cNvPr id="21" name="Text 19"/>
          <p:cNvSpPr/>
          <p:nvPr/>
        </p:nvSpPr>
        <p:spPr>
          <a:xfrm>
            <a:off x="4219956" y="48920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Positive Tests: 585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94476" y="5440680"/>
            <a:ext cx="0" cy="365760"/>
          </a:xfrm>
          <a:prstGeom prst="line">
            <a:avLst/>
          </a:prstGeom>
          <a:noFill/>
          <a:ln w="22225">
            <a:solidFill>
              <a:srgbClr val="E9C46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108960" y="5806440"/>
            <a:ext cx="5943600" cy="777240"/>
          </a:xfrm>
          <a:prstGeom prst="roundRect">
            <a:avLst>
              <a:gd name="adj" fmla="val 11765"/>
            </a:avLst>
          </a:prstGeom>
          <a:solidFill>
            <a:srgbClr val="E9C46A"/>
          </a:solidFill>
          <a:ln/>
        </p:spPr>
      </p:sp>
      <p:sp>
        <p:nvSpPr>
          <p:cNvPr id="24" name="Text 22"/>
          <p:cNvSpPr/>
          <p:nvPr/>
        </p:nvSpPr>
        <p:spPr>
          <a:xfrm>
            <a:off x="3108960" y="580644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P(Disease | Positive) = 90 / 585 ≈ 15.38%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Spam Detection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email is spam · 80% of spam contains “FREE” · 10% of normal email does too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722876" y="169164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722876" y="1691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Incoming Emails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94476" y="2240280"/>
            <a:ext cx="2743200" cy="502920"/>
          </a:xfrm>
          <a:prstGeom prst="line">
            <a:avLst/>
          </a:prstGeom>
          <a:noFill/>
          <a:ln w="19050">
            <a:solidFill>
              <a:srgbClr val="6FAE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4476" y="2240280"/>
            <a:ext cx="2409444" cy="502920"/>
          </a:xfrm>
          <a:prstGeom prst="line">
            <a:avLst/>
          </a:prstGeom>
          <a:noFill/>
          <a:ln w="19050">
            <a:solidFill>
              <a:srgbClr val="6FAE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274320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2F6B4F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2743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(40%)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52360" y="274320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2F6B4F"/>
          </a:solidFill>
          <a:ln/>
        </p:spPr>
      </p:sp>
      <p:sp>
        <p:nvSpPr>
          <p:cNvPr id="11" name="Text 9"/>
          <p:cNvSpPr/>
          <p:nvPr/>
        </p:nvSpPr>
        <p:spPr>
          <a:xfrm>
            <a:off x="7452360" y="2743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(60%)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0" y="3291840"/>
            <a:ext cx="0" cy="411480"/>
          </a:xfrm>
          <a:prstGeom prst="line">
            <a:avLst/>
          </a:prstGeom>
          <a:noFill/>
          <a:ln w="22225">
            <a:solidFill>
              <a:srgbClr val="6FAE8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503920" y="3291840"/>
            <a:ext cx="0" cy="411480"/>
          </a:xfrm>
          <a:prstGeom prst="line">
            <a:avLst/>
          </a:prstGeom>
          <a:noFill/>
          <a:ln w="22225">
            <a:solidFill>
              <a:srgbClr val="6FAE8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645920" y="370332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E9C46A"/>
          </a:solidFill>
          <a:ln/>
        </p:spPr>
      </p:sp>
      <p:sp>
        <p:nvSpPr>
          <p:cNvPr id="15" name="Text 13"/>
          <p:cNvSpPr/>
          <p:nvPr/>
        </p:nvSpPr>
        <p:spPr>
          <a:xfrm>
            <a:off x="1645920" y="37033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"FREE"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× 80% = 32%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06640" y="370332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8AC0A6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37033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"FREE"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× 10% = 6%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0" y="4389120"/>
            <a:ext cx="3351276" cy="457200"/>
          </a:xfrm>
          <a:prstGeom prst="line">
            <a:avLst/>
          </a:prstGeom>
          <a:noFill/>
          <a:ln w="19050">
            <a:solidFill>
              <a:srgbClr val="6FAE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4389120"/>
            <a:ext cx="-2409444" cy="457200"/>
          </a:xfrm>
          <a:prstGeom prst="line">
            <a:avLst/>
          </a:prstGeom>
          <a:noFill/>
          <a:ln w="19050">
            <a:solidFill>
              <a:srgbClr val="6FAE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19956" y="484632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2F6B4F"/>
          </a:solidFill>
          <a:ln/>
        </p:spPr>
      </p:sp>
      <p:sp>
        <p:nvSpPr>
          <p:cNvPr id="21" name="Text 19"/>
          <p:cNvSpPr/>
          <p:nvPr/>
        </p:nvSpPr>
        <p:spPr>
          <a:xfrm>
            <a:off x="4219956" y="48463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"FREE" Emails: 38%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94476" y="5394960"/>
            <a:ext cx="0" cy="365760"/>
          </a:xfrm>
          <a:prstGeom prst="line">
            <a:avLst/>
          </a:prstGeom>
          <a:noFill/>
          <a:ln w="22225">
            <a:solidFill>
              <a:srgbClr val="E9C46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108960" y="5760720"/>
            <a:ext cx="5943600" cy="777240"/>
          </a:xfrm>
          <a:prstGeom prst="roundRect">
            <a:avLst>
              <a:gd name="adj" fmla="val 11765"/>
            </a:avLst>
          </a:prstGeom>
          <a:solidFill>
            <a:srgbClr val="E9C46A"/>
          </a:solidFill>
          <a:ln/>
        </p:spPr>
      </p:sp>
      <p:sp>
        <p:nvSpPr>
          <p:cNvPr id="24" name="Text 22"/>
          <p:cNvSpPr/>
          <p:nvPr/>
        </p:nvSpPr>
        <p:spPr>
          <a:xfrm>
            <a:off x="3108960" y="576072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P(Spam | “FREE”) = 32 / 38 ≈ 84.21%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Bayes Theorem Used?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idea, applied across many fields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1F8F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411480" cy="41148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7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detection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1F8F4"/>
          </a:solidFill>
          <a:ln/>
        </p:spPr>
      </p:sp>
      <p:sp>
        <p:nvSpPr>
          <p:cNvPr id="9" name="Shape 7"/>
          <p:cNvSpPr/>
          <p:nvPr/>
        </p:nvSpPr>
        <p:spPr>
          <a:xfrm>
            <a:off x="3611880" y="1920240"/>
            <a:ext cx="411480" cy="41148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11880" y="28346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7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1F8F4"/>
          </a:solidFill>
          <a:ln/>
        </p:spPr>
      </p:sp>
      <p:sp>
        <p:nvSpPr>
          <p:cNvPr id="13" name="Shape 11"/>
          <p:cNvSpPr/>
          <p:nvPr/>
        </p:nvSpPr>
        <p:spPr>
          <a:xfrm>
            <a:off x="6446520" y="1920240"/>
            <a:ext cx="411480" cy="41148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46520" y="28346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7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169164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1F8F4"/>
          </a:solidFill>
          <a:ln/>
        </p:spPr>
      </p:sp>
      <p:sp>
        <p:nvSpPr>
          <p:cNvPr id="17" name="Shape 15"/>
          <p:cNvSpPr/>
          <p:nvPr/>
        </p:nvSpPr>
        <p:spPr>
          <a:xfrm>
            <a:off x="9281160" y="1920240"/>
            <a:ext cx="411480" cy="41148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8" name="Text 16"/>
          <p:cNvSpPr/>
          <p:nvPr/>
        </p:nvSpPr>
        <p:spPr>
          <a:xfrm>
            <a:off x="9281160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281160" y="28346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7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1F8F4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3886200"/>
            <a:ext cx="411480" cy="41148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434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48006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7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365760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1F8F4"/>
          </a:solidFill>
          <a:ln/>
        </p:spPr>
      </p:sp>
      <p:sp>
        <p:nvSpPr>
          <p:cNvPr id="25" name="Shape 23"/>
          <p:cNvSpPr/>
          <p:nvPr/>
        </p:nvSpPr>
        <p:spPr>
          <a:xfrm>
            <a:off x="3611880" y="3886200"/>
            <a:ext cx="411480" cy="41148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6" name="Text 24"/>
          <p:cNvSpPr/>
          <p:nvPr/>
        </p:nvSpPr>
        <p:spPr>
          <a:xfrm>
            <a:off x="3611880" y="4434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611880" y="48006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7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recommendations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365760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1F8F4"/>
          </a:solidFill>
          <a:ln/>
        </p:spPr>
      </p:sp>
      <p:sp>
        <p:nvSpPr>
          <p:cNvPr id="29" name="Shape 27"/>
          <p:cNvSpPr/>
          <p:nvPr/>
        </p:nvSpPr>
        <p:spPr>
          <a:xfrm>
            <a:off x="6446520" y="3886200"/>
            <a:ext cx="411480" cy="41148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4434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46520" y="48006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7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&amp; classification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52560" y="365760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1F8F4"/>
          </a:solidFill>
          <a:ln/>
        </p:spPr>
      </p:sp>
      <p:sp>
        <p:nvSpPr>
          <p:cNvPr id="33" name="Shape 31"/>
          <p:cNvSpPr/>
          <p:nvPr/>
        </p:nvSpPr>
        <p:spPr>
          <a:xfrm>
            <a:off x="9281160" y="3886200"/>
            <a:ext cx="411480" cy="41148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34" name="Text 32"/>
          <p:cNvSpPr/>
          <p:nvPr/>
        </p:nvSpPr>
        <p:spPr>
          <a:xfrm>
            <a:off x="9281160" y="4434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281160" y="48006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7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 under uncertainty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 Theorem in AI / ML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Naive Bayes classification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some observed features, what is the probability of a particular class? The model calculates the probability for each class and picks the higher 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14400" y="233172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1F8F4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31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"FREE"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17520" y="2583180"/>
            <a:ext cx="822960" cy="0"/>
          </a:xfrm>
          <a:prstGeom prst="line">
            <a:avLst/>
          </a:prstGeom>
          <a:noFill/>
          <a:ln w="22225">
            <a:solidFill>
              <a:srgbClr val="40916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14400" y="301752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1F8F4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175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"OFFER"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17520" y="3268980"/>
            <a:ext cx="822960" cy="0"/>
          </a:xfrm>
          <a:prstGeom prst="line">
            <a:avLst/>
          </a:prstGeom>
          <a:noFill/>
          <a:ln w="22225">
            <a:solidFill>
              <a:srgbClr val="40916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4400" y="370332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1F8F4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7033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"WIN"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017520" y="3954780"/>
            <a:ext cx="822960" cy="0"/>
          </a:xfrm>
          <a:prstGeom prst="line">
            <a:avLst/>
          </a:prstGeom>
          <a:noFill/>
          <a:ln w="22225">
            <a:solidFill>
              <a:srgbClr val="40916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14400" y="438912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1F8F4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3891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"PRIZE"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017520" y="4640580"/>
            <a:ext cx="822960" cy="0"/>
          </a:xfrm>
          <a:prstGeom prst="line">
            <a:avLst/>
          </a:prstGeom>
          <a:noFill/>
          <a:ln w="22225">
            <a:solidFill>
              <a:srgbClr val="40916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931920" y="283464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1B4332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0" y="2834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760720" y="3429000"/>
            <a:ext cx="822960" cy="0"/>
          </a:xfrm>
          <a:prstGeom prst="line">
            <a:avLst/>
          </a:prstGeom>
          <a:noFill/>
          <a:ln w="22225">
            <a:solidFill>
              <a:srgbClr val="E9C46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858000" y="260604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E9C46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0" y="356616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D8ECE2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35661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Spam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52560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probability wins →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463040" y="5074920"/>
            <a:ext cx="9235440" cy="822960"/>
          </a:xfrm>
          <a:prstGeom prst="roundRect">
            <a:avLst>
              <a:gd name="adj" fmla="val 11111"/>
            </a:avLst>
          </a:prstGeom>
          <a:solidFill>
            <a:srgbClr val="F1F8F4"/>
          </a:solidFill>
          <a:ln/>
        </p:spPr>
      </p:sp>
      <p:sp>
        <p:nvSpPr>
          <p:cNvPr id="26" name="Text 24"/>
          <p:cNvSpPr/>
          <p:nvPr/>
        </p:nvSpPr>
        <p:spPr>
          <a:xfrm>
            <a:off x="1737360" y="50749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compares P(Spam | features) vs. P(Not Spam | features), and selects the class with the higher probability.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Practice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applying Bayes Theorem to these three scenarios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4206240"/>
          </a:xfrm>
          <a:prstGeom prst="roundRect">
            <a:avLst>
              <a:gd name="adj" fmla="val 2632"/>
            </a:avLst>
          </a:prstGeom>
          <a:solidFill>
            <a:srgbClr val="2F6B4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Medical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disease affects 2% of a population. A test correctly detects it 95% of the time, with a 5% false-positive rate. If a person tests positive, what is the probability they actually have the disease?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474720" cy="4206240"/>
          </a:xfrm>
          <a:prstGeom prst="roundRect">
            <a:avLst>
              <a:gd name="adj" fmla="val 2632"/>
            </a:avLst>
          </a:prstGeom>
          <a:solidFill>
            <a:srgbClr val="2F6B4F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1965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Spam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17720" y="246888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emails are spam, 70% normal. 90% of spam contains "WIN"; 5% of normal email does too. If an email contains "WIN", what is the probability it is spam?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474720" cy="4206240"/>
          </a:xfrm>
          <a:prstGeom prst="roundRect">
            <a:avLst>
              <a:gd name="adj" fmla="val 2632"/>
            </a:avLst>
          </a:prstGeom>
          <a:solidFill>
            <a:srgbClr val="2F6B4F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1965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Business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0" y="246888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customers are likely to leave. 70% of those who leave complained recently; 20% of those who stay also complained. If a customer complained, what is the probability they will leave?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2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 to remember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85216" y="201168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585216" y="20116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Probability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962656" y="2423160"/>
            <a:ext cx="502920" cy="0"/>
          </a:xfrm>
          <a:prstGeom prst="line">
            <a:avLst/>
          </a:prstGeom>
          <a:noFill/>
          <a:ln w="22225">
            <a:solidFill>
              <a:srgbClr val="40916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65576" y="201168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40916C"/>
          </a:solidFill>
          <a:ln/>
        </p:spPr>
      </p:sp>
      <p:sp>
        <p:nvSpPr>
          <p:cNvPr id="8" name="Text 6"/>
          <p:cNvSpPr/>
          <p:nvPr/>
        </p:nvSpPr>
        <p:spPr>
          <a:xfrm>
            <a:off x="3465576" y="20116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Evidence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43016" y="2423160"/>
            <a:ext cx="502920" cy="0"/>
          </a:xfrm>
          <a:prstGeom prst="line">
            <a:avLst/>
          </a:prstGeom>
          <a:noFill/>
          <a:ln w="22225">
            <a:solidFill>
              <a:srgbClr val="40916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345936" y="201168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6345936" y="20116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Theorem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723376" y="2423160"/>
            <a:ext cx="502920" cy="0"/>
          </a:xfrm>
          <a:prstGeom prst="line">
            <a:avLst/>
          </a:prstGeom>
          <a:noFill/>
          <a:ln w="22225">
            <a:solidFill>
              <a:srgbClr val="40916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226296" y="201168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E9C46A"/>
          </a:solidFill>
          <a:ln/>
        </p:spPr>
      </p:sp>
      <p:sp>
        <p:nvSpPr>
          <p:cNvPr id="14" name="Text 12"/>
          <p:cNvSpPr/>
          <p:nvPr/>
        </p:nvSpPr>
        <p:spPr>
          <a:xfrm>
            <a:off x="9226296" y="20116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Probability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(Posterior)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280160" y="3429000"/>
            <a:ext cx="9601200" cy="1188720"/>
          </a:xfrm>
          <a:prstGeom prst="roundRect">
            <a:avLst>
              <a:gd name="adj" fmla="val 7692"/>
            </a:avLst>
          </a:prstGeom>
          <a:solidFill>
            <a:srgbClr val="F1F8F4"/>
          </a:solidFill>
          <a:ln/>
        </p:spPr>
      </p:sp>
      <p:sp>
        <p:nvSpPr>
          <p:cNvPr id="16" name="Text 14"/>
          <p:cNvSpPr/>
          <p:nvPr/>
        </p:nvSpPr>
        <p:spPr>
          <a:xfrm>
            <a:off x="1600200" y="361188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DEFINITION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600200" y="388620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Theorem is a method for calculating an updated probability of an event using prior knowledge and new evidence.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1280160" y="4846320"/>
            <a:ext cx="9601200" cy="1005840"/>
          </a:xfrm>
          <a:prstGeom prst="roundRect">
            <a:avLst>
              <a:gd name="adj" fmla="val 9091"/>
            </a:avLst>
          </a:prstGeom>
          <a:solidFill>
            <a:srgbClr val="1B4332"/>
          </a:solidFill>
          <a:ln/>
        </p:spPr>
      </p:sp>
      <p:sp>
        <p:nvSpPr>
          <p:cNvPr id="19" name="Text 17"/>
          <p:cNvSpPr/>
          <p:nvPr/>
        </p:nvSpPr>
        <p:spPr>
          <a:xfrm>
            <a:off x="1600200" y="484632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D6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spam filters to medical tests to fraud detection — Bayes Theorem is how machines (and people) reason under uncertainty.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2026-09-03T05:06:45Z</dcterms:created>
  <dcterms:modified xsi:type="dcterms:W3CDTF">2026-09-03T05:06:45Z</dcterms:modified>
</cp:coreProperties>
</file>