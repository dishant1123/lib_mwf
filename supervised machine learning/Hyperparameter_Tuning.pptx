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85042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Not Churn</c:v>
                  </c:pt>
                  <c:pt idx="1">
                    <c:v>Churn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900</c:v>
                </c:pt>
                <c:pt idx="1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5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21295C"/>
                </a:solidFill>
                <a:latin typeface="Arial"/>
              </a:defRPr>
            </a:pPr>
            <a:r>
              <a:rPr sz="1500" b="0" i="0" u="none" strike="noStrike">
                <a:solidFill>
                  <a:srgbClr val="21295C"/>
                </a:solidFill>
                <a:latin typeface="Arial"/>
              </a:rPr>
              <a:t>Class Balance: Before vs. After SMOTE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 SMOTE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5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Class 0</c:v>
                  </c:pt>
                  <c:pt idx="1">
                    <c:v>Class 1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900</c:v>
                </c:pt>
                <c:pt idx="1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SMOTE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5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Class 0</c:v>
                  </c:pt>
                  <c:pt idx="1">
                    <c:v>Class 1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900</c:v>
                </c:pt>
                <c:pt idx="1">
                  <c:v>900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25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A25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C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1A253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06240"/>
            <a:ext cx="2377440" cy="2377440"/>
          </a:xfrm>
          <a:prstGeom prst="ellipse">
            <a:avLst/>
          </a:prstGeom>
          <a:solidFill>
            <a:srgbClr val="1C729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05840" y="5120640"/>
            <a:ext cx="2743200" cy="27432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554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8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&amp; IMPROVEMENT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6596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Hyperparameter Tuning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063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Search strategies, overfitting control, and handling imbalanced data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31520" y="411480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4114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395728" y="4114800"/>
            <a:ext cx="2066544" cy="45720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395728" y="4114800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RandomizedSearchCV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663440" y="4114800"/>
            <a:ext cx="1563624" cy="45720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4114800"/>
            <a:ext cx="1563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28232" y="4114800"/>
            <a:ext cx="758952" cy="45720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28232" y="4114800"/>
            <a:ext cx="75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FOUNDATIONS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Hyperparameter Tuning?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  </a:t>
            </a:r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 is the process of finding the best settings of a machine-learning model </a:t>
            </a:r>
            <a:pPr indent="0" marL="0">
              <a:lnSpc>
                <a:spcPts val="2200"/>
              </a:lnSpc>
              <a:buNone/>
            </a:pPr>
            <a:r>
              <a:rPr lang="en-US" sz="16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training it.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48640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53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6517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6517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Random Forest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914400" y="3337560"/>
            <a:ext cx="1874520" cy="402336"/>
          </a:xfrm>
          <a:prstGeom prst="roundRect">
            <a:avLst>
              <a:gd name="adj" fmla="val 13636"/>
            </a:avLst>
          </a:prstGeom>
          <a:solidFill>
            <a:srgbClr val="E8F1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33756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n_estimators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971800" y="3337560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trees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14400" y="3886200"/>
            <a:ext cx="1874520" cy="402336"/>
          </a:xfrm>
          <a:prstGeom prst="roundRect">
            <a:avLst>
              <a:gd name="adj" fmla="val 13636"/>
            </a:avLst>
          </a:prstGeom>
          <a:solidFill>
            <a:srgbClr val="E8F1F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388620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max_depth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971800" y="3886200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depth of each tree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14400" y="4434840"/>
            <a:ext cx="1874520" cy="402336"/>
          </a:xfrm>
          <a:prstGeom prst="roundRect">
            <a:avLst>
              <a:gd name="adj" fmla="val 13636"/>
            </a:avLst>
          </a:prstGeom>
          <a:solidFill>
            <a:srgbClr val="E8F1F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443484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min_samples_split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971800" y="4434840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samples required to split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5029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settings are the hyperparameters.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2331720"/>
            <a:ext cx="5394960" cy="3566160"/>
          </a:xfrm>
          <a:prstGeom prst="roundRect">
            <a:avLst>
              <a:gd name="adj" fmla="val 2564"/>
            </a:avLst>
          </a:prstGeom>
          <a:solidFill>
            <a:srgbClr val="21295C"/>
          </a:solidFill>
          <a:ln/>
        </p:spPr>
      </p:sp>
      <p:sp>
        <p:nvSpPr>
          <p:cNvPr id="20" name="Shape 18"/>
          <p:cNvSpPr/>
          <p:nvPr/>
        </p:nvSpPr>
        <p:spPr>
          <a:xfrm>
            <a:off x="6583680" y="26517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8368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269480" y="26517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Simple Real-Life Example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329184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Suppose you are making tea. Before you brew it — not while drinking — you decide: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583680" y="401421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839712" y="393192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of sugar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583680" y="442569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839712" y="434340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of milk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583680" y="483717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839712" y="475488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Boiling time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6583680" y="5276088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Hyperparameters are settings we choose before model training — just like tea.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SEARCH STRATEGIES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GridSearchCV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</a:t>
            </a:r>
            <a:pPr indent="0" marL="0">
              <a:lnSpc>
                <a:spcPts val="2100"/>
              </a:lnSpc>
              <a:buNone/>
            </a:pPr>
            <a:r>
              <a:rPr lang="en-US" sz="15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tries every possible combination of the hyperparameters you provide and selects the best combination using cross-validation.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5577840" cy="1417320"/>
          </a:xfrm>
          <a:prstGeom prst="roundRect">
            <a:avLst>
              <a:gd name="adj" fmla="val 6452"/>
            </a:avLst>
          </a:prstGeom>
          <a:solidFill>
            <a:srgbClr val="E8F1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8803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want to test: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182112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n_estimators = [50, 100]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max_depth    = [3, 5, 10]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34340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combination is evaluated with cross-validation before the winner is picked.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1463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Combinations Tested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452360" y="19659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3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869680" y="19659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0287000" y="19659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10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2331720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trees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452360" y="2331720"/>
            <a:ext cx="13258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52360" y="233172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trees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3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869680" y="2331720"/>
            <a:ext cx="13258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869680" y="233172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trees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5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0287000" y="2331720"/>
            <a:ext cx="13258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287000" y="233172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trees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10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583680" y="3200400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trees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452360" y="3200400"/>
            <a:ext cx="13258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452360" y="320040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trees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3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869680" y="3200400"/>
            <a:ext cx="13258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869680" y="320040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trees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5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0287000" y="3200400"/>
            <a:ext cx="13258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287000" y="320040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trees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10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583680" y="5074920"/>
            <a:ext cx="5074920" cy="68580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583680" y="507492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× 3 = 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combinations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SEARCH STRATEGIES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GridSearchCV — Important Terms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630936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673352"/>
            <a:ext cx="2743200" cy="484632"/>
          </a:xfrm>
          <a:prstGeom prst="roundRect">
            <a:avLst>
              <a:gd name="adj" fmla="val 11321"/>
            </a:avLst>
          </a:prstGeom>
          <a:solidFill>
            <a:srgbClr val="21295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673352"/>
            <a:ext cx="27432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param_grid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703320" y="1600200"/>
            <a:ext cx="76809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combinations to test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359152"/>
            <a:ext cx="11064240" cy="630936"/>
          </a:xfrm>
          <a:prstGeom prst="roundRect">
            <a:avLst>
              <a:gd name="adj" fmla="val 11594"/>
            </a:avLst>
          </a:prstGeom>
          <a:solidFill>
            <a:srgbClr val="E8F1F6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2432304"/>
            <a:ext cx="2743200" cy="484632"/>
          </a:xfrm>
          <a:prstGeom prst="roundRect">
            <a:avLst>
              <a:gd name="adj" fmla="val 11321"/>
            </a:avLst>
          </a:prstGeom>
          <a:solidFill>
            <a:srgbClr val="21295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2432304"/>
            <a:ext cx="27432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cv=5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703320" y="2359152"/>
            <a:ext cx="76809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118104"/>
            <a:ext cx="11064240" cy="630936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" y="3191256"/>
            <a:ext cx="2743200" cy="484632"/>
          </a:xfrm>
          <a:prstGeom prst="roundRect">
            <a:avLst>
              <a:gd name="adj" fmla="val 11321"/>
            </a:avLst>
          </a:prstGeom>
          <a:solidFill>
            <a:srgbClr val="21295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" y="3191256"/>
            <a:ext cx="27432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scoring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703320" y="3118104"/>
            <a:ext cx="76809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used to compare models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3877056"/>
            <a:ext cx="11064240" cy="630936"/>
          </a:xfrm>
          <a:prstGeom prst="roundRect">
            <a:avLst>
              <a:gd name="adj" fmla="val 11594"/>
            </a:avLst>
          </a:prstGeom>
          <a:solidFill>
            <a:srgbClr val="E8F1F6"/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" y="3950208"/>
            <a:ext cx="2743200" cy="484632"/>
          </a:xfrm>
          <a:prstGeom prst="roundRect">
            <a:avLst>
              <a:gd name="adj" fmla="val 11321"/>
            </a:avLst>
          </a:prstGeom>
          <a:solidFill>
            <a:srgbClr val="21295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950208"/>
            <a:ext cx="27432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best_params_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703320" y="3877056"/>
            <a:ext cx="76809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hyperparameter combination found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4636008"/>
            <a:ext cx="11064240" cy="630936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685800" y="4709160"/>
            <a:ext cx="2743200" cy="484632"/>
          </a:xfrm>
          <a:prstGeom prst="roundRect">
            <a:avLst>
              <a:gd name="adj" fmla="val 11321"/>
            </a:avLst>
          </a:prstGeom>
          <a:solidFill>
            <a:srgbClr val="21295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5800" y="4709160"/>
            <a:ext cx="27432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best_score_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703320" y="4636008"/>
            <a:ext cx="76809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cross-validation score achieved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48640" y="5394960"/>
            <a:ext cx="11064240" cy="630936"/>
          </a:xfrm>
          <a:prstGeom prst="roundRect">
            <a:avLst>
              <a:gd name="adj" fmla="val 11594"/>
            </a:avLst>
          </a:prstGeom>
          <a:solidFill>
            <a:srgbClr val="E8F1F6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" y="5468112"/>
            <a:ext cx="2743200" cy="484632"/>
          </a:xfrm>
          <a:prstGeom prst="roundRect">
            <a:avLst>
              <a:gd name="adj" fmla="val 11321"/>
            </a:avLst>
          </a:prstGeom>
          <a:solidFill>
            <a:srgbClr val="21295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85800" y="5468112"/>
            <a:ext cx="27432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best_estimator_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3703320" y="5394960"/>
            <a:ext cx="76809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trained model, ready to use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SEARCH STRATEGIES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RandomizedSearchCV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RandomizedSearchCV </a:t>
            </a:r>
            <a:pPr indent="0" marL="0">
              <a:lnSpc>
                <a:spcPts val="2100"/>
              </a:lnSpc>
              <a:buNone/>
            </a:pPr>
            <a:r>
              <a:rPr lang="en-US" sz="15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randomly selects combinations of hyperparameters instead of testing every single one.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1460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 it? Suppose you have 10 values for each of 4 hyperparameters: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3136392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04672" y="306324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 — 10 values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502152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04672" y="342900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 — 10 values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867912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04672" y="379476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min_samples_split — 10 values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233672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04672" y="416052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max_features — 10 values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709160"/>
            <a:ext cx="2743200" cy="1417320"/>
          </a:xfrm>
          <a:prstGeom prst="roundRect">
            <a:avLst>
              <a:gd name="adj" fmla="val 6452"/>
            </a:avLst>
          </a:prstGeom>
          <a:solidFill>
            <a:srgbClr val="B8504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7548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3949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FBE4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 combinations</a:t>
            </a:r>
            <a:endParaRPr lang="en-US" sz="11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FBE4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 × 10 × 10 × 10)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566160" y="4709160"/>
            <a:ext cx="2743200" cy="1417320"/>
          </a:xfrm>
          <a:prstGeom prst="roundRect">
            <a:avLst>
              <a:gd name="adj" fmla="val 6452"/>
            </a:avLst>
          </a:prstGeom>
          <a:solidFill>
            <a:srgbClr val="02C39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566160" y="47548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3566160" y="53949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RandomizedSearch</a:t>
            </a:r>
            <a:endParaRPr lang="en-US" sz="11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n_iter = 20 (only tested)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675120" y="1463040"/>
            <a:ext cx="4983480" cy="4663440"/>
          </a:xfrm>
          <a:prstGeom prst="roundRect">
            <a:avLst>
              <a:gd name="adj" fmla="val 2353"/>
            </a:avLst>
          </a:prstGeom>
          <a:solidFill>
            <a:srgbClr val="21295C"/>
          </a:solidFill>
          <a:ln/>
        </p:spPr>
      </p:sp>
      <p:sp>
        <p:nvSpPr>
          <p:cNvPr id="21" name="Shape 19"/>
          <p:cNvSpPr/>
          <p:nvPr/>
        </p:nvSpPr>
        <p:spPr>
          <a:xfrm>
            <a:off x="6995160" y="17830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99516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7680960" y="178308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Randomized search trades exhaustiveness for speed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995160" y="251460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10,000 exhaustive runs, it samples a fixed number of random points from the search space — controlled by n_iter.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995160" y="3611880"/>
            <a:ext cx="448056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995160" y="379476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large parameter spaces where full grid search would take too long to compute.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SEARCH STRATEGIES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GridSearchCV vs. RandomizedSearchCV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53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5349240" cy="777240"/>
          </a:xfrm>
          <a:prstGeom prst="roundRect">
            <a:avLst>
              <a:gd name="adj" fmla="val 14118"/>
            </a:avLst>
          </a:prstGeom>
          <a:solidFill>
            <a:srgbClr val="065A8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011680"/>
            <a:ext cx="5349240" cy="3200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554480"/>
            <a:ext cx="5349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GridSearchCV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68680" y="2606040"/>
            <a:ext cx="292608" cy="292608"/>
          </a:xfrm>
          <a:prstGeom prst="ellipse">
            <a:avLst/>
          </a:prstGeom>
          <a:solidFill>
            <a:srgbClr val="E8F1F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2606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551176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every combination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68680" y="3383280"/>
            <a:ext cx="292608" cy="292608"/>
          </a:xfrm>
          <a:prstGeom prst="ellipse">
            <a:avLst/>
          </a:prstGeom>
          <a:solidFill>
            <a:srgbClr val="E8F1F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3383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328416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exhaustive coverage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68680" y="4160520"/>
            <a:ext cx="292608" cy="292608"/>
          </a:xfrm>
          <a:prstGeom prst="ellipse">
            <a:avLst/>
          </a:prstGeom>
          <a:solidFill>
            <a:srgbClr val="E8F1F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4160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4105656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computationally expensive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68680" y="4937760"/>
            <a:ext cx="292608" cy="292608"/>
          </a:xfrm>
          <a:prstGeom prst="ellipse">
            <a:avLst/>
          </a:prstGeom>
          <a:solidFill>
            <a:srgbClr val="E8F1F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4937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4882896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small parameter spaces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263640" y="1554480"/>
            <a:ext cx="53492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53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63640" y="1554480"/>
            <a:ext cx="5349240" cy="777240"/>
          </a:xfrm>
          <a:prstGeom prst="roundRect">
            <a:avLst>
              <a:gd name="adj" fmla="val 14118"/>
            </a:avLst>
          </a:prstGeom>
          <a:solidFill>
            <a:srgbClr val="1C7293"/>
          </a:solidFill>
          <a:ln/>
        </p:spPr>
      </p:sp>
      <p:sp>
        <p:nvSpPr>
          <p:cNvPr id="22" name="Shape 20"/>
          <p:cNvSpPr/>
          <p:nvPr/>
        </p:nvSpPr>
        <p:spPr>
          <a:xfrm>
            <a:off x="6263640" y="2011680"/>
            <a:ext cx="534924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263640" y="1554480"/>
            <a:ext cx="5349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RandomizedSearchCV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583680" y="2606040"/>
            <a:ext cx="292608" cy="292608"/>
          </a:xfrm>
          <a:prstGeom prst="ellipse">
            <a:avLst/>
          </a:prstGeom>
          <a:solidFill>
            <a:srgbClr val="DFF5E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583680" y="2606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040880" y="2551176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random combinations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583680" y="3383280"/>
            <a:ext cx="292608" cy="292608"/>
          </a:xfrm>
          <a:prstGeom prst="ellipse">
            <a:avLst/>
          </a:prstGeom>
          <a:solidFill>
            <a:srgbClr val="DFF5E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583680" y="3383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040880" y="3328416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to run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583680" y="4160520"/>
            <a:ext cx="292608" cy="292608"/>
          </a:xfrm>
          <a:prstGeom prst="ellipse">
            <a:avLst/>
          </a:prstGeom>
          <a:solidFill>
            <a:srgbClr val="DFF5E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583680" y="4160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040880" y="4105656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cheaper computationally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6583680" y="4937760"/>
            <a:ext cx="292608" cy="292608"/>
          </a:xfrm>
          <a:prstGeom prst="ellipse">
            <a:avLst/>
          </a:prstGeom>
          <a:solidFill>
            <a:srgbClr val="DFF5EF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583680" y="4937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7040880" y="4882896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large parameter spaces</a:t>
            </a:r>
            <a:endParaRPr lang="en-US" sz="135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PRACTICAL SETUP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Search Parameters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randomly select parameters — ground the search space in what actually matters for the algorithm.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440680" cy="3794760"/>
          </a:xfrm>
          <a:prstGeom prst="roundRect">
            <a:avLst>
              <a:gd name="adj" fmla="val 2410"/>
            </a:avLst>
          </a:prstGeom>
          <a:solidFill>
            <a:srgbClr val="21295C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33172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3317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97180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param_grid = {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"n_estimators": [50, 100, 200],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"max_depth": [3, 5, 10],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"min_samples_split": [2, 5, 10]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4526280"/>
            <a:ext cx="484632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470916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and split thresholds directly control tree complexity — the main overfitting lever for tree ensembles.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72200" y="2057400"/>
            <a:ext cx="5440680" cy="3794760"/>
          </a:xfrm>
          <a:prstGeom prst="roundRect">
            <a:avLst>
              <a:gd name="adj" fmla="val 2410"/>
            </a:avLst>
          </a:prstGeom>
          <a:solidFill>
            <a:srgbClr val="065A82"/>
          </a:solidFill>
          <a:ln/>
        </p:spPr>
      </p:sp>
      <p:sp>
        <p:nvSpPr>
          <p:cNvPr id="13" name="Shape 11"/>
          <p:cNvSpPr/>
          <p:nvPr/>
        </p:nvSpPr>
        <p:spPr>
          <a:xfrm>
            <a:off x="6492240" y="23317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9224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086600" y="23317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Vector Machine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297180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param_grid = {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"C": [0.1, 1, 10, 100],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"kernel": ["linear", "rbf"],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"gamma": ["scale", "auto"]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92240" y="4526280"/>
            <a:ext cx="4846320" cy="0"/>
          </a:xfrm>
          <a:prstGeom prst="line">
            <a:avLst/>
          </a:prstGeom>
          <a:noFill/>
          <a:ln w="12700">
            <a:solidFill>
              <a:srgbClr val="89C4E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92240" y="470916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and gamma jointly shape the decision boundary — covered in detail next.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PRACTICAL SETUP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Meaning of SVM Parameters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4068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53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1051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810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81051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Controls the penalty for incorrect classification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68680" y="2606040"/>
            <a:ext cx="4800600" cy="777240"/>
          </a:xfrm>
          <a:prstGeom prst="roundRect">
            <a:avLst>
              <a:gd name="adj" fmla="val 9412"/>
            </a:avLst>
          </a:prstGeom>
          <a:solidFill>
            <a:srgbClr val="E8F1F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51560" y="260604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  </a:t>
            </a:r>
            <a:pPr indent="0" marL="0">
              <a:buNone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more tolerance for errors → simpler boundary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3520440"/>
            <a:ext cx="4800600" cy="777240"/>
          </a:xfrm>
          <a:prstGeom prst="roundRect">
            <a:avLst>
              <a:gd name="adj" fmla="val 9412"/>
            </a:avLst>
          </a:prstGeom>
          <a:solidFill>
            <a:srgbClr val="21295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51560" y="352044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less tolerance for errors → more complex boundary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8680" y="4572000"/>
            <a:ext cx="4800600" cy="20116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13" name="Shape 11"/>
          <p:cNvSpPr/>
          <p:nvPr/>
        </p:nvSpPr>
        <p:spPr>
          <a:xfrm>
            <a:off x="795528" y="4526280"/>
            <a:ext cx="292608" cy="292608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21224" y="4526280"/>
            <a:ext cx="292608" cy="292608"/>
          </a:xfrm>
          <a:prstGeom prst="ellipse">
            <a:avLst/>
          </a:prstGeom>
          <a:solidFill>
            <a:srgbClr val="21295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48646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389120" y="48646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complex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534924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too large a C can overfit to noisy training points near the boundary.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72200" y="1554480"/>
            <a:ext cx="544068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53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92240" y="181051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92240" y="1810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7178040" y="181051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Controls how far the influence of one training point reaches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492240" y="2606040"/>
            <a:ext cx="4800600" cy="777240"/>
          </a:xfrm>
          <a:prstGeom prst="roundRect">
            <a:avLst>
              <a:gd name="adj" fmla="val 9412"/>
            </a:avLst>
          </a:prstGeom>
          <a:solidFill>
            <a:srgbClr val="DFF5E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75120" y="260604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gamma  </a:t>
            </a:r>
            <a:pPr indent="0" marL="0">
              <a:buNone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smoother decision boundary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92240" y="3520440"/>
            <a:ext cx="4800600" cy="777240"/>
          </a:xfrm>
          <a:prstGeom prst="roundRect">
            <a:avLst>
              <a:gd name="adj" fmla="val 9412"/>
            </a:avLst>
          </a:prstGeom>
          <a:solidFill>
            <a:srgbClr val="21295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675120" y="352044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gamma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more complex boundary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92240" y="4572000"/>
            <a:ext cx="4800600" cy="201168"/>
          </a:xfrm>
          <a:prstGeom prst="roundRect">
            <a:avLst>
              <a:gd name="adj" fmla="val 50000"/>
            </a:avLst>
          </a:prstGeom>
          <a:solidFill>
            <a:srgbClr val="B7E4D8"/>
          </a:solidFill>
          <a:ln/>
        </p:spPr>
      </p:sp>
      <p:sp>
        <p:nvSpPr>
          <p:cNvPr id="27" name="Shape 25"/>
          <p:cNvSpPr/>
          <p:nvPr/>
        </p:nvSpPr>
        <p:spPr>
          <a:xfrm>
            <a:off x="6419088" y="4526280"/>
            <a:ext cx="292608" cy="292608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844784" y="4526280"/>
            <a:ext cx="292608" cy="292608"/>
          </a:xfrm>
          <a:prstGeom prst="ellipse">
            <a:avLst/>
          </a:prstGeom>
          <a:solidFill>
            <a:srgbClr val="21295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172200" y="48646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10012680" y="48646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complex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6492240" y="534924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too high a gamma can fit noise, hurting generalization to unseen data.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MODEL VALIDITY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Preventing Overfitting During Tuning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</a:t>
            </a:r>
            <a:pPr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occurs when a model performs extremely well on training data but poorly on unseen data.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B850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33172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Training accuracy = 99%
</a:t>
            </a:r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BE4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accuracy         = 75%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204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gap like this is a warning sign of overfitting.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we prevent it?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4434840"/>
            <a:ext cx="256032" cy="256032"/>
          </a:xfrm>
          <a:prstGeom prst="ellipse">
            <a:avLst/>
          </a:prstGeom>
          <a:solidFill>
            <a:srgbClr val="DFF5E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4434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43891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91840" y="4434840"/>
            <a:ext cx="256032" cy="256032"/>
          </a:xfrm>
          <a:prstGeom prst="ellipse">
            <a:avLst/>
          </a:prstGeom>
          <a:solidFill>
            <a:srgbClr val="DFF5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291840" y="4434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43891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train/test split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983480"/>
            <a:ext cx="256032" cy="256032"/>
          </a:xfrm>
          <a:prstGeom prst="ellipse">
            <a:avLst/>
          </a:prstGeom>
          <a:solidFill>
            <a:srgbClr val="DFF5E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49834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49377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tune using the test set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91840" y="4983480"/>
            <a:ext cx="256032" cy="256032"/>
          </a:xfrm>
          <a:prstGeom prst="ellipse">
            <a:avLst/>
          </a:prstGeom>
          <a:solidFill>
            <a:srgbClr val="DFF5E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291840" y="49834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657600" y="49377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model complexity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5532120"/>
            <a:ext cx="256032" cy="256032"/>
          </a:xfrm>
          <a:prstGeom prst="ellipse">
            <a:avLst/>
          </a:prstGeom>
          <a:solidFill>
            <a:srgbClr val="DFF5E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55321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14400" y="54864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regularization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291840" y="5532120"/>
            <a:ext cx="256032" cy="256032"/>
          </a:xfrm>
          <a:prstGeom prst="ellipse">
            <a:avLst/>
          </a:prstGeom>
          <a:solidFill>
            <a:srgbClr val="DFF5E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291840" y="55321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657600" y="54864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appropriate evaluation metrics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263640" y="1417320"/>
            <a:ext cx="5349240" cy="5074920"/>
          </a:xfrm>
          <a:prstGeom prst="roundRect">
            <a:avLst>
              <a:gd name="adj" fmla="val 2162"/>
            </a:avLst>
          </a:prstGeom>
          <a:solidFill>
            <a:srgbClr val="21295C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537960" y="157276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 Tuning Workflow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720840" y="2057400"/>
            <a:ext cx="4617720" cy="512064"/>
          </a:xfrm>
          <a:prstGeom prst="roundRect">
            <a:avLst>
              <a:gd name="adj" fmla="val 12500"/>
            </a:avLst>
          </a:prstGeom>
          <a:solidFill>
            <a:srgbClr val="2E3A73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720840" y="2057400"/>
            <a:ext cx="4617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720840" y="2569464"/>
            <a:ext cx="4617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720840" y="2679192"/>
            <a:ext cx="4617720" cy="512064"/>
          </a:xfrm>
          <a:prstGeom prst="roundRect">
            <a:avLst>
              <a:gd name="adj" fmla="val 12500"/>
            </a:avLst>
          </a:prstGeom>
          <a:solidFill>
            <a:srgbClr val="2E3A73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720840" y="2679192"/>
            <a:ext cx="4617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720840" y="3191256"/>
            <a:ext cx="4617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720840" y="3300984"/>
            <a:ext cx="4617720" cy="512064"/>
          </a:xfrm>
          <a:prstGeom prst="roundRect">
            <a:avLst>
              <a:gd name="adj" fmla="val 12500"/>
            </a:avLst>
          </a:prstGeom>
          <a:solidFill>
            <a:srgbClr val="2E3A73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720840" y="3300984"/>
            <a:ext cx="4617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720840" y="3813048"/>
            <a:ext cx="4617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720840" y="3922776"/>
            <a:ext cx="4617720" cy="512064"/>
          </a:xfrm>
          <a:prstGeom prst="roundRect">
            <a:avLst>
              <a:gd name="adj" fmla="val 12500"/>
            </a:avLst>
          </a:prstGeom>
          <a:solidFill>
            <a:srgbClr val="1C7293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720840" y="3922776"/>
            <a:ext cx="4617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+ Cross-Validation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6720840" y="4434840"/>
            <a:ext cx="4617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720840" y="4544568"/>
            <a:ext cx="4617720" cy="512064"/>
          </a:xfrm>
          <a:prstGeom prst="roundRect">
            <a:avLst>
              <a:gd name="adj" fmla="val 12500"/>
            </a:avLst>
          </a:prstGeom>
          <a:solidFill>
            <a:srgbClr val="2E3A73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720840" y="4544568"/>
            <a:ext cx="4617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6720840" y="5056632"/>
            <a:ext cx="4617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720840" y="5166360"/>
            <a:ext cx="4617720" cy="512064"/>
          </a:xfrm>
          <a:prstGeom prst="roundRect">
            <a:avLst>
              <a:gd name="adj" fmla="val 12500"/>
            </a:avLst>
          </a:prstGeom>
          <a:solidFill>
            <a:srgbClr val="2E3A73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6720840" y="5166360"/>
            <a:ext cx="4617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Test Data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6720840" y="5678424"/>
            <a:ext cx="4617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720840" y="5788152"/>
            <a:ext cx="4617720" cy="512064"/>
          </a:xfrm>
          <a:prstGeom prst="roundRect">
            <a:avLst>
              <a:gd name="adj" fmla="val 12500"/>
            </a:avLst>
          </a:prstGeom>
          <a:solidFill>
            <a:srgbClr val="2E3A73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6720840" y="5788152"/>
            <a:ext cx="4617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Evaluation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IMBALANCED DATA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Handling Imbalanced Data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imbalanced dataset </a:t>
            </a:r>
            <a:pPr indent="0" marL="0">
              <a:buNone/>
            </a:pPr>
            <a:r>
              <a:rPr lang="en-US" sz="15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occurs when one class has many more observations than another.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574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Customer Churn</a:t>
            </a:r>
            <a:endParaRPr lang="en-US" sz="16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2468880"/>
          <a:ext cx="53949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53035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 vs. 100 → a 90% / 10% split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63640" y="2057400"/>
            <a:ext cx="5349240" cy="3931920"/>
          </a:xfrm>
          <a:prstGeom prst="roundRect">
            <a:avLst>
              <a:gd name="adj" fmla="val 2791"/>
            </a:avLst>
          </a:prstGeom>
          <a:solidFill>
            <a:srgbClr val="B85042"/>
          </a:solidFill>
          <a:ln/>
        </p:spPr>
      </p:sp>
      <p:sp>
        <p:nvSpPr>
          <p:cNvPr id="9" name="Shape 6"/>
          <p:cNvSpPr/>
          <p:nvPr/>
        </p:nvSpPr>
        <p:spPr>
          <a:xfrm>
            <a:off x="6583680" y="23317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58368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7269480" y="23317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accuracy trap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6583680" y="3017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BE4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could simply predict: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583680" y="3429000"/>
            <a:ext cx="4754880" cy="502920"/>
          </a:xfrm>
          <a:prstGeom prst="roundRect">
            <a:avLst>
              <a:gd name="adj" fmla="val 12727"/>
            </a:avLst>
          </a:prstGeom>
          <a:solidFill>
            <a:srgbClr val="9C3A2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583680" y="34290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Everyone = Not Churn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6583680" y="40690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BE4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…and still get: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6583680" y="43891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= 90%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6583680" y="5029200"/>
            <a:ext cx="4754880" cy="0"/>
          </a:xfrm>
          <a:prstGeom prst="line">
            <a:avLst/>
          </a:prstGeom>
          <a:noFill/>
          <a:ln w="19050">
            <a:solidFill>
              <a:srgbClr val="F9E79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0" y="516636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model is useless for detecting churn — the only class that actually matters.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IMBALANCED DATA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Weights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class_weight="balanced" </a:t>
            </a:r>
            <a:pPr indent="0" marL="0">
              <a:buNone/>
            </a:pPr>
            <a:r>
              <a:rPr lang="en-US" sz="15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more importance to the minority class during training.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440680" cy="2286000"/>
          </a:xfrm>
          <a:prstGeom prst="roundRect">
            <a:avLst>
              <a:gd name="adj" fmla="val 4000"/>
            </a:avLst>
          </a:prstGeom>
          <a:solidFill>
            <a:srgbClr val="21295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42316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423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4231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971800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RandomForestClassifier(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class_weight="balanced",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random_state=42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172200" y="2194560"/>
            <a:ext cx="5440680" cy="2286000"/>
          </a:xfrm>
          <a:prstGeom prst="roundRect">
            <a:avLst>
              <a:gd name="adj" fmla="val 4000"/>
            </a:avLst>
          </a:prstGeom>
          <a:solidFill>
            <a:srgbClr val="065A82"/>
          </a:solidFill>
          <a:ln/>
        </p:spPr>
      </p:sp>
      <p:sp>
        <p:nvSpPr>
          <p:cNvPr id="11" name="Shape 9"/>
          <p:cNvSpPr/>
          <p:nvPr/>
        </p:nvSpPr>
        <p:spPr>
          <a:xfrm>
            <a:off x="6446520" y="242316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46520" y="2423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995160" y="24231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2971800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LogisticRegression(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class_weight="balanced"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470916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E8F1F6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66344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55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709160"/>
            <a:ext cx="9692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Mistakes on the minority class should matter more.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IMBALANCED DATA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SMOTE — Synthetic Minority Over-sampling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creates synthetic examples of the minority class, rather than simply duplicating existing rows.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057400"/>
          <a:ext cx="110642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IMBALANCED DATA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Applying SMOTE the Right Way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3246120"/>
          </a:xfrm>
          <a:prstGeom prst="roundRect">
            <a:avLst>
              <a:gd name="adj" fmla="val 2817"/>
            </a:avLst>
          </a:prstGeom>
          <a:solidFill>
            <a:srgbClr val="21295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4983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imblearn.over_sampling import SMOTE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smote = SMOTE(random_state=42)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X_train_smote, y_train_smote = \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smote.fit_resample(X_train, y_train)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4892040"/>
            <a:ext cx="5440680" cy="1234440"/>
          </a:xfrm>
          <a:prstGeom prst="roundRect">
            <a:avLst>
              <a:gd name="adj" fmla="val 7407"/>
            </a:avLst>
          </a:prstGeom>
          <a:solidFill>
            <a:srgbClr val="B8504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4892040"/>
            <a:ext cx="4983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Never fit SMOTE on the full dataset before the train/test split — that leaks synthetic signal into your test set.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508760"/>
            <a:ext cx="5349240" cy="4617720"/>
          </a:xfrm>
          <a:prstGeom prst="roundRect">
            <a:avLst>
              <a:gd name="adj" fmla="val 23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530">
                <a:alpha val="1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37960" y="166420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 Order of Operations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537960" y="2148840"/>
            <a:ext cx="4846320" cy="566928"/>
          </a:xfrm>
          <a:prstGeom prst="roundRect">
            <a:avLst>
              <a:gd name="adj" fmla="val 12903"/>
            </a:avLst>
          </a:prstGeom>
          <a:solidFill>
            <a:srgbClr val="E8F1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37960" y="214884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Dataset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71576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37960" y="2880360"/>
            <a:ext cx="4846320" cy="566928"/>
          </a:xfrm>
          <a:prstGeom prst="roundRect">
            <a:avLst>
              <a:gd name="adj" fmla="val 12903"/>
            </a:avLst>
          </a:prstGeom>
          <a:solidFill>
            <a:srgbClr val="E8F1F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37960" y="288036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344728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37960" y="3611880"/>
            <a:ext cx="4846320" cy="566928"/>
          </a:xfrm>
          <a:prstGeom prst="roundRect">
            <a:avLst>
              <a:gd name="adj" fmla="val 12903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37960" y="361188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 → SMOTE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417880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37960" y="4343400"/>
            <a:ext cx="4846320" cy="566928"/>
          </a:xfrm>
          <a:prstGeom prst="roundRect">
            <a:avLst>
              <a:gd name="adj" fmla="val 12903"/>
            </a:avLst>
          </a:prstGeom>
          <a:solidFill>
            <a:srgbClr val="065A8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37960" y="434340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Model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49103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37960" y="5074920"/>
            <a:ext cx="4846320" cy="566928"/>
          </a:xfrm>
          <a:prstGeom prst="roundRect">
            <a:avLst>
              <a:gd name="adj" fmla="val 12903"/>
            </a:avLst>
          </a:prstGeom>
          <a:solidFill>
            <a:srgbClr val="21295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537960" y="507492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Data → unchanged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2026-09-11T03:05:13Z</dcterms:created>
  <dcterms:modified xsi:type="dcterms:W3CDTF">2026-09-11T03:05:13Z</dcterms:modified>
</cp:coreProperties>
</file>