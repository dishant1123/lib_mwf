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traditional time-series models to Machine Learning for forecasting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074920"/>
            <a:ext cx="502920" cy="54864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 ·  Rolling Features  ·  Date-Time Features  ·  Random Forest / XGBoost  ·  Evaluation Metrics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Time Series to ML-Ready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048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previous period values as predictors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26280" y="18562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4048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Features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788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Moving-window statistics (mean, std, max)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75320" y="18562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4048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Date-Time Features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788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year, month, quarter, day, weekday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41422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6908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074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XGBoost, Linear/Gradient Boosting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3977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26280" y="41422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6908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5074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time order — never shuffle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3977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75320" y="41422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6908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5074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MAPE, SMAPE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Feature Engineering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FEATURE ENGINEERING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 Features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lag feature uses a previous time period's value as a feature — it tells the model to use yesterday's value to help predict today's.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df["Lag_1"] = df["Sales"].shift(1)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2519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"Use yesterday's sales to predict today's sales."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508760"/>
          <a:ext cx="5349240" cy="237744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7830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Lag_1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263640" y="41605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EEF1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37960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lags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47091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  →  previous month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Lag_2  →  two months ago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Lag_3  →  three months ago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Feature Engineering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FEATURE ENGINEERING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Features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rolling feature calculates statistics over a moving window of past values — smoothing noise and capturing local trend.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877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32688" y="3657600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df["Sales"].rolling(3).mean()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519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the last 3 periods — a smoothed trend signal.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233172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5877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0" y="365760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81728" y="3657600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df["Sales"].rolling(3).std()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2519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of the last 3 periods — how noisy things have been.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233172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25877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2104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Max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21040" y="365760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30768" y="3657600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df["Sales"].rolling(3).max()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2519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value in the last 3 periods — recent highs.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4E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 </a:t>
            </a:r>
            <a:pPr indent="0" marL="0">
              <a:buNone/>
            </a:pPr>
            <a:r>
              <a:rPr lang="en-US" sz="125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shift(1) before rolling() ensures the feature only uses past values, never today's target — preventing data leakage.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Feature Engineering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FEATURE ENGINEERING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Date-Time Features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feeding a raw date into a model, extract structured, numeric signals a model can actually learn from.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54203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df["Year"] = df.index.year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df["Month"] = df.index.month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df["Quarter"] = df.index.quarter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daily data, also extract Day and DayOfWeek to capture weekly seasonality.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2026-09-11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2286000"/>
            <a:ext cx="47548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2286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2286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37960" y="2907792"/>
            <a:ext cx="47548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29077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90779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37960" y="3529584"/>
            <a:ext cx="47548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35295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35295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37960" y="4151376"/>
            <a:ext cx="47548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0840" y="415137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41513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37960" y="4773168"/>
            <a:ext cx="47548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20840" y="47731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DayOfWeek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47731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(Friday)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Feature Engineering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for Time Series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models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12264"/>
            <a:ext cx="274320" cy="2743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19659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98064"/>
            <a:ext cx="274320" cy="2743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26517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483864"/>
            <a:ext cx="274320" cy="2743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33375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169664"/>
            <a:ext cx="274320" cy="2743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88720" y="40233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how you split train/test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19659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DEDE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2103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4505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train-test split is common — order doesn't matter.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 Feb  Mar  ...  Nov  Dec   →  shuffled randomly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6118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9F7E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3749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0965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order must be preserved to avoid data leakage.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5537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Train:  Jan – Aug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8737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Test:   Sep – Dec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5257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randomly mix January and December.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Feature Engineering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WORKFLOW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Random Forest Forecasting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A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dataset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17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monthly sales: trend + seasonality + noise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16352" y="210312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53512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A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953512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3017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Lag_1–3, Rolling_Mean_3 (shifted), Month, Year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28032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84064" y="210312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21224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A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21224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NaNs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21224" y="3017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early rows without enough history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095744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51776" y="210312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88936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A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488936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88936" y="3017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all but last 12 months, test on the rest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363456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19488" y="210312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756648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756648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&amp; predict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756648" y="3017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RandomForestRegressor(n_estimators=200)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EEF1F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list used for training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Lag_1   ·   Lag_2   ·   Lag_3   ·   Rolling_Mean_3   ·   Month   ·   Year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12 months held out as the test set — model fit on RandomForestRegressor(n_estimators=200, random_state=42).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Feature Engineering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Forecast Error: MAE &amp; RMSE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difference between actual and predicted values. Treats all errors equally.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4800600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3474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Actual:     100  200  300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Predicted:  110  190  280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Errors:      10   10   20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434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= (10+10+20)/3 = 13.33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074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MAE = better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554480"/>
            <a:ext cx="5532120" cy="4434840"/>
          </a:xfrm>
          <a:prstGeom prst="roundRect">
            <a:avLst>
              <a:gd name="adj" fmla="val 185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560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 errors before averaging, so large mistakes are penalized much more heavily than small ones.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3429000"/>
            <a:ext cx="4937760" cy="1005840"/>
          </a:xfrm>
          <a:prstGeom prst="roundRect">
            <a:avLst>
              <a:gd name="adj" fmla="val 5455"/>
            </a:avLst>
          </a:prstGeom>
          <a:solidFill>
            <a:srgbClr val="2630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34290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large forecasting mistakes are particularly costly or undesirable.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RMSE = better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5212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≥ MAE always — the gap widens when errors are uneven / there are outliers.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Feature Engineering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Forecast Error: MAPE &amp; SMAPE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Percentage Error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Expresses error as a percentage of the actual value, making it easy to interpret across scales.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480060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3337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 = 100, Predicted = 90  →  10% error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MAPE = 8%  →  predictions off by ~8% on average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526280"/>
            <a:ext cx="4800600" cy="1051560"/>
          </a:xfrm>
          <a:prstGeom prst="roundRect">
            <a:avLst>
              <a:gd name="adj" fmla="val 5217"/>
            </a:avLst>
          </a:prstGeom>
          <a:solidFill>
            <a:srgbClr val="FFF4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45262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 </a:t>
            </a:r>
            <a:pPr indent="0" marL="0">
              <a:buNone/>
            </a:pPr>
            <a:r>
              <a:rPr lang="en-US" sz="120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behaves badly when actual values are zero or very close to zero.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1554480"/>
            <a:ext cx="5532120" cy="4434840"/>
          </a:xfrm>
          <a:prstGeom prst="roundRect">
            <a:avLst>
              <a:gd name="adj" fmla="val 185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SMAPE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Mean Absolute Percentage Error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5603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symmetric percentage-based error measure — divides by the average of actual and predicted, not actual alone.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352044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2630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35204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comparing forecast errors across series of very different scales.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4617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MAPE &amp; SMAPE are expressed as percentages — lower is better for each.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Feature Engineering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21 Recap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937760" cy="777240"/>
          </a:xfrm>
          <a:prstGeom prst="roundRect">
            <a:avLst>
              <a:gd name="adj" fmla="val 16471"/>
            </a:avLst>
          </a:prstGeom>
          <a:solidFill>
            <a:srgbClr val="3D5A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ML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4937760" cy="777240"/>
          </a:xfrm>
          <a:prstGeom prst="roundRect">
            <a:avLst>
              <a:gd name="adj" fmla="val 16471"/>
            </a:avLst>
          </a:prstGeom>
          <a:solidFill>
            <a:srgbClr val="2B36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834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4937760" cy="777240"/>
          </a:xfrm>
          <a:prstGeom prst="roundRect">
            <a:avLst>
              <a:gd name="adj" fmla="val 16471"/>
            </a:avLst>
          </a:prstGeom>
          <a:solidFill>
            <a:srgbClr val="2B36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931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Features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709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029200"/>
            <a:ext cx="4937760" cy="777240"/>
          </a:xfrm>
          <a:prstGeom prst="roundRect">
            <a:avLst>
              <a:gd name="adj" fmla="val 16471"/>
            </a:avLst>
          </a:prstGeom>
          <a:solidFill>
            <a:srgbClr val="2B36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5029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Date-Time Features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1737360"/>
            <a:ext cx="4937760" cy="777240"/>
          </a:xfrm>
          <a:prstGeom prst="roundRect">
            <a:avLst>
              <a:gd name="adj" fmla="val 16471"/>
            </a:avLst>
          </a:prstGeom>
          <a:solidFill>
            <a:srgbClr val="2B36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1737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XGBoost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514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834640"/>
            <a:ext cx="4937760" cy="777240"/>
          </a:xfrm>
          <a:prstGeom prst="roundRect">
            <a:avLst>
              <a:gd name="adj" fmla="val 16471"/>
            </a:avLst>
          </a:prstGeom>
          <a:solidFill>
            <a:srgbClr val="2B36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2834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Train/Test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3931920"/>
            <a:ext cx="4937760" cy="777240"/>
          </a:xfrm>
          <a:prstGeom prst="roundRect">
            <a:avLst>
              <a:gd name="adj" fmla="val 16471"/>
            </a:avLst>
          </a:prstGeom>
          <a:solidFill>
            <a:srgbClr val="2B36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3931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709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5029200"/>
            <a:ext cx="4937760" cy="777240"/>
          </a:xfrm>
          <a:prstGeom prst="roundRect">
            <a:avLst>
              <a:gd name="adj" fmla="val 16471"/>
            </a:avLst>
          </a:prstGeom>
          <a:solidFill>
            <a:srgbClr val="3D5AF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5029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RMSE / MAPE / SMAPE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301752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Feature Engineering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2026-09-11T03:33:41Z</dcterms:created>
  <dcterms:modified xsi:type="dcterms:W3CDTF">2026-09-11T03:33:41Z</dcterms:modified>
</cp:coreProperties>
</file>