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Split 1</c:v>
                  </c:pt>
                  <c:pt idx="1">
                    <c:v>Split 2</c:v>
                  </c:pt>
                  <c:pt idx="2">
                    <c:v>Split 3</c:v>
                  </c:pt>
                  <c:pt idx="3">
                    <c:v>Split 4</c:v>
                  </c:pt>
                  <c:pt idx="4">
                    <c:v>Split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91</c:v>
                </c:pt>
                <c:pt idx="1">
                  <c:v>85</c:v>
                </c:pt>
                <c:pt idx="2">
                  <c:v>89</c:v>
                </c:pt>
                <c:pt idx="3">
                  <c:v>93</c:v>
                </c:pt>
                <c:pt idx="4">
                  <c:v>88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1F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75"/>
        </c:scaling>
        <c:delete val="0"/>
        <c:axPos val="l"/>
        <c:majorGridlines>
          <c:spPr>
            <a:ln w="12700" cap="flat">
              <a:solidFill>
                <a:srgbClr val="E1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Fold accuracy (%)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Fold 1</c:v>
                  </c:pt>
                  <c:pt idx="1">
                    <c:v>Fold 2</c:v>
                  </c:pt>
                  <c:pt idx="2">
                    <c:v>Fold 3</c:v>
                  </c:pt>
                  <c:pt idx="3">
                    <c:v>Fold 4</c:v>
                  </c:pt>
                  <c:pt idx="4">
                    <c:v>Fold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91</c:v>
                </c:pt>
                <c:pt idx="1">
                  <c:v>94</c:v>
                </c:pt>
                <c:pt idx="2">
                  <c:v>92</c:v>
                </c:pt>
                <c:pt idx="3">
                  <c:v>90</c:v>
                </c:pt>
                <c:pt idx="4">
                  <c:v>93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1F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6"/>
          <c:min val="85"/>
        </c:scaling>
        <c:delete val="0"/>
        <c:axPos val="l"/>
        <c:majorGridlines>
          <c:spPr>
            <a:ln w="12700" cap="flat">
              <a:solidFill>
                <a:srgbClr val="E1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 A (consistent)</c:v>
                </c:pt>
              </c:strCache>
            </c:strRef>
          </c:tx>
          <c:spPr>
            <a:solidFill>
              <a:srgbClr val="065A82"/>
            </a:solidFill>
            <a:ln w="31750" cap="flat">
              <a:solidFill>
                <a:srgbClr val="065A8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F1</c:v>
                  </c:pt>
                  <c:pt idx="1">
                    <c:v>F2</c:v>
                  </c:pt>
                  <c:pt idx="2">
                    <c:v>F3</c:v>
                  </c:pt>
                  <c:pt idx="3">
                    <c:v>F4</c:v>
                  </c:pt>
                  <c:pt idx="4">
                    <c:v>F5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90</c:v>
                </c:pt>
                <c:pt idx="1">
                  <c:v>91</c:v>
                </c:pt>
                <c:pt idx="2">
                  <c:v>90</c:v>
                </c:pt>
                <c:pt idx="3">
                  <c:v>91</c:v>
                </c:pt>
                <c:pt idx="4">
                  <c:v>90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B (volatile)</c:v>
                </c:pt>
              </c:strCache>
            </c:strRef>
          </c:tx>
          <c:spPr>
            <a:solidFill>
              <a:srgbClr val="E8A33D"/>
            </a:solidFill>
            <a:ln w="31750" cap="flat">
              <a:solidFill>
                <a:srgbClr val="E8A3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E8A33D"/>
              </a:solidFill>
              <a:ln w="9525" cap="flat">
                <a:solidFill>
                  <a:srgbClr val="E8A3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F1</c:v>
                  </c:pt>
                  <c:pt idx="1">
                    <c:v>F2</c:v>
                  </c:pt>
                  <c:pt idx="2">
                    <c:v>F3</c:v>
                  </c:pt>
                  <c:pt idx="3">
                    <c:v>F4</c:v>
                  </c:pt>
                  <c:pt idx="4">
                    <c:v>F5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75</c:v>
                </c:pt>
                <c:pt idx="1">
                  <c:v>98</c:v>
                </c:pt>
                <c:pt idx="2">
                  <c:v>82</c:v>
                </c:pt>
                <c:pt idx="3">
                  <c:v>95</c:v>
                </c:pt>
                <c:pt idx="4">
                  <c:v>86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70"/>
        </c:scaling>
        <c:delete val="0"/>
        <c:axPos val="l"/>
        <c:majorGridlines>
          <c:spPr>
            <a:ln w="12700" cap="flat">
              <a:solidFill>
                <a:srgbClr val="E1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A6472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Pass (80%)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Fold 1</c:v>
                  </c:pt>
                  <c:pt idx="1">
                    <c:v>Fold 2</c:v>
                  </c:pt>
                  <c:pt idx="2">
                    <c:v>Fold 3</c:v>
                  </c:pt>
                  <c:pt idx="3">
                    <c:v>Fold 4</c:v>
                  </c:pt>
                  <c:pt idx="4">
                    <c:v>Fold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</c:v>
                </c:pt>
                <c:pt idx="1">
                  <c:v>16</c:v>
                </c:pt>
                <c:pt idx="2">
                  <c:v>16</c:v>
                </c:pt>
                <c:pt idx="3">
                  <c:v>16</c:v>
                </c:pt>
                <c:pt idx="4">
                  <c:v>16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Fail (20%)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Fold 1</c:v>
                  </c:pt>
                  <c:pt idx="1">
                    <c:v>Fold 2</c:v>
                  </c:pt>
                  <c:pt idx="2">
                    <c:v>Fold 3</c:v>
                  </c:pt>
                  <c:pt idx="3">
                    <c:v>Fold 4</c:v>
                  </c:pt>
                  <c:pt idx="4">
                    <c:v>Fold 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1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A6472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029200" cy="502920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206240"/>
            <a:ext cx="4206240" cy="4206240"/>
          </a:xfrm>
          <a:prstGeom prst="ellipse">
            <a:avLst/>
          </a:prstGeom>
          <a:solidFill>
            <a:srgbClr val="8FD7C8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D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&amp; IMPROVEMENT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Cross-Validation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one train-test split isn't enough, how K-Fold works, and how to pick the right K.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206240"/>
            <a:ext cx="2011680" cy="0"/>
          </a:xfrm>
          <a:prstGeom prst="line">
            <a:avLst/>
          </a:prstGeom>
          <a:noFill/>
          <a:ln w="25400">
            <a:solidFill>
              <a:srgbClr val="8FD7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343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Cross Validation Fundamentals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split can be lucky — or unlucky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(CV)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how well a model performs on unseen data — not with one split, but many.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53949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normal train/test split trains once and tests once.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usual split is 80% training / 20% testing.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20% test set happens to be easy (or hard), accuracy misleads you.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lets different portions of the data act as validation data, in turn.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417320"/>
            <a:ext cx="5349240" cy="4663440"/>
          </a:xfrm>
          <a:prstGeom prst="roundRect">
            <a:avLst>
              <a:gd name="adj" fmla="val 2353"/>
            </a:avLst>
          </a:prstGeom>
          <a:solidFill>
            <a:srgbClr val="F4F7F9"/>
          </a:solidFill>
          <a:ln w="12700">
            <a:solidFill>
              <a:srgbClr val="E1E8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0" y="1645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model, five random splits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492240" y="2103120"/>
          <a:ext cx="49377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THE METHOD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K-Fold Cross Validation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is split into K equal folds. The model trains K times — each time, a different fold is held out as the test set.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084832" cy="777240"/>
          </a:xfrm>
          <a:prstGeom prst="roundRect">
            <a:avLst>
              <a:gd name="adj" fmla="val 7059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2084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688336" y="2148840"/>
            <a:ext cx="2084832" cy="777240"/>
          </a:xfrm>
          <a:prstGeom prst="roundRect">
            <a:avLst>
              <a:gd name="adj" fmla="val 7059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2688336" y="2148840"/>
            <a:ext cx="2084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2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828032" y="2148840"/>
            <a:ext cx="2084832" cy="777240"/>
          </a:xfrm>
          <a:prstGeom prst="roundRect">
            <a:avLst>
              <a:gd name="adj" fmla="val 7059"/>
            </a:avLst>
          </a:prstGeom>
          <a:solidFill>
            <a:srgbClr val="21295C"/>
          </a:solidFill>
          <a:ln/>
        </p:spPr>
      </p:sp>
      <p:sp>
        <p:nvSpPr>
          <p:cNvPr id="10" name="Text 8"/>
          <p:cNvSpPr/>
          <p:nvPr/>
        </p:nvSpPr>
        <p:spPr>
          <a:xfrm>
            <a:off x="4828032" y="2148840"/>
            <a:ext cx="2084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3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67728" y="2148840"/>
            <a:ext cx="2084832" cy="777240"/>
          </a:xfrm>
          <a:prstGeom prst="roundRect">
            <a:avLst>
              <a:gd name="adj" fmla="val 7059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967728" y="2148840"/>
            <a:ext cx="2084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4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107424" y="2148840"/>
            <a:ext cx="2084832" cy="777240"/>
          </a:xfrm>
          <a:prstGeom prst="roundRect">
            <a:avLst>
              <a:gd name="adj" fmla="val 7059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9107424" y="2148840"/>
            <a:ext cx="2084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5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3063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rounds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429000"/>
            <a:ext cx="1371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011680" y="3429000"/>
            <a:ext cx="2084832" cy="493776"/>
          </a:xfrm>
          <a:prstGeom prst="roundRect">
            <a:avLst>
              <a:gd name="adj" fmla="val 9259"/>
            </a:avLst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2011680" y="3429000"/>
            <a:ext cx="20848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51376" y="3429000"/>
            <a:ext cx="2084832" cy="493776"/>
          </a:xfrm>
          <a:prstGeom prst="roundRect">
            <a:avLst>
              <a:gd name="adj" fmla="val 9259"/>
            </a:avLst>
          </a:prstGeom>
          <a:solidFill>
            <a:srgbClr val="DCE7ED"/>
          </a:solidFill>
          <a:ln/>
        </p:spPr>
      </p:sp>
      <p:sp>
        <p:nvSpPr>
          <p:cNvPr id="20" name="Text 18"/>
          <p:cNvSpPr/>
          <p:nvPr/>
        </p:nvSpPr>
        <p:spPr>
          <a:xfrm>
            <a:off x="4151376" y="3429000"/>
            <a:ext cx="20848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91072" y="3429000"/>
            <a:ext cx="2084832" cy="493776"/>
          </a:xfrm>
          <a:prstGeom prst="roundRect">
            <a:avLst>
              <a:gd name="adj" fmla="val 9259"/>
            </a:avLst>
          </a:prstGeom>
          <a:solidFill>
            <a:srgbClr val="DCE7ED"/>
          </a:solidFill>
          <a:ln/>
        </p:spPr>
      </p:sp>
      <p:sp>
        <p:nvSpPr>
          <p:cNvPr id="22" name="Text 20"/>
          <p:cNvSpPr/>
          <p:nvPr/>
        </p:nvSpPr>
        <p:spPr>
          <a:xfrm>
            <a:off x="6291072" y="3429000"/>
            <a:ext cx="20848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430768" y="3429000"/>
            <a:ext cx="2084832" cy="493776"/>
          </a:xfrm>
          <a:prstGeom prst="roundRect">
            <a:avLst>
              <a:gd name="adj" fmla="val 9259"/>
            </a:avLst>
          </a:prstGeom>
          <a:solidFill>
            <a:srgbClr val="DCE7ED"/>
          </a:solidFill>
          <a:ln/>
        </p:spPr>
      </p:sp>
      <p:sp>
        <p:nvSpPr>
          <p:cNvPr id="24" name="Text 22"/>
          <p:cNvSpPr/>
          <p:nvPr/>
        </p:nvSpPr>
        <p:spPr>
          <a:xfrm>
            <a:off x="8430768" y="3429000"/>
            <a:ext cx="20848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570464" y="3429000"/>
            <a:ext cx="2084832" cy="493776"/>
          </a:xfrm>
          <a:prstGeom prst="roundRect">
            <a:avLst>
              <a:gd name="adj" fmla="val 9259"/>
            </a:avLst>
          </a:prstGeom>
          <a:solidFill>
            <a:srgbClr val="DCE7ED"/>
          </a:solidFill>
          <a:ln/>
        </p:spPr>
      </p:sp>
      <p:sp>
        <p:nvSpPr>
          <p:cNvPr id="26" name="Text 24"/>
          <p:cNvSpPr/>
          <p:nvPr/>
        </p:nvSpPr>
        <p:spPr>
          <a:xfrm>
            <a:off x="10570464" y="3429000"/>
            <a:ext cx="20848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3995928"/>
            <a:ext cx="1371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011680" y="3995928"/>
            <a:ext cx="2084832" cy="493776"/>
          </a:xfrm>
          <a:prstGeom prst="roundRect">
            <a:avLst>
              <a:gd name="adj" fmla="val 9259"/>
            </a:avLst>
          </a:prstGeom>
          <a:solidFill>
            <a:srgbClr val="DCE7ED"/>
          </a:solidFill>
          <a:ln/>
        </p:spPr>
      </p:sp>
      <p:sp>
        <p:nvSpPr>
          <p:cNvPr id="29" name="Text 27"/>
          <p:cNvSpPr/>
          <p:nvPr/>
        </p:nvSpPr>
        <p:spPr>
          <a:xfrm>
            <a:off x="2011680" y="3995928"/>
            <a:ext cx="20848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151376" y="3995928"/>
            <a:ext cx="2084832" cy="493776"/>
          </a:xfrm>
          <a:prstGeom prst="roundRect">
            <a:avLst>
              <a:gd name="adj" fmla="val 9259"/>
            </a:avLst>
          </a:prstGeom>
          <a:solidFill>
            <a:srgbClr val="E8A33D"/>
          </a:solidFill>
          <a:ln/>
        </p:spPr>
      </p:sp>
      <p:sp>
        <p:nvSpPr>
          <p:cNvPr id="31" name="Text 29"/>
          <p:cNvSpPr/>
          <p:nvPr/>
        </p:nvSpPr>
        <p:spPr>
          <a:xfrm>
            <a:off x="4151376" y="3995928"/>
            <a:ext cx="20848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91072" y="3995928"/>
            <a:ext cx="2084832" cy="493776"/>
          </a:xfrm>
          <a:prstGeom prst="roundRect">
            <a:avLst>
              <a:gd name="adj" fmla="val 9259"/>
            </a:avLst>
          </a:prstGeom>
          <a:solidFill>
            <a:srgbClr val="DCE7ED"/>
          </a:solidFill>
          <a:ln/>
        </p:spPr>
      </p:sp>
      <p:sp>
        <p:nvSpPr>
          <p:cNvPr id="33" name="Text 31"/>
          <p:cNvSpPr/>
          <p:nvPr/>
        </p:nvSpPr>
        <p:spPr>
          <a:xfrm>
            <a:off x="6291072" y="3995928"/>
            <a:ext cx="20848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430768" y="3995928"/>
            <a:ext cx="2084832" cy="493776"/>
          </a:xfrm>
          <a:prstGeom prst="roundRect">
            <a:avLst>
              <a:gd name="adj" fmla="val 9259"/>
            </a:avLst>
          </a:prstGeom>
          <a:solidFill>
            <a:srgbClr val="DCE7ED"/>
          </a:solidFill>
          <a:ln/>
        </p:spPr>
      </p:sp>
      <p:sp>
        <p:nvSpPr>
          <p:cNvPr id="35" name="Text 33"/>
          <p:cNvSpPr/>
          <p:nvPr/>
        </p:nvSpPr>
        <p:spPr>
          <a:xfrm>
            <a:off x="8430768" y="3995928"/>
            <a:ext cx="20848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0570464" y="3995928"/>
            <a:ext cx="2084832" cy="493776"/>
          </a:xfrm>
          <a:prstGeom prst="roundRect">
            <a:avLst>
              <a:gd name="adj" fmla="val 9259"/>
            </a:avLst>
          </a:prstGeom>
          <a:solidFill>
            <a:srgbClr val="DCE7ED"/>
          </a:solidFill>
          <a:ln/>
        </p:spPr>
      </p:sp>
      <p:sp>
        <p:nvSpPr>
          <p:cNvPr id="37" name="Text 35"/>
          <p:cNvSpPr/>
          <p:nvPr/>
        </p:nvSpPr>
        <p:spPr>
          <a:xfrm>
            <a:off x="10570464" y="3995928"/>
            <a:ext cx="20848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8640" y="4562856"/>
            <a:ext cx="1371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3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2011680" y="4562856"/>
            <a:ext cx="2084832" cy="493776"/>
          </a:xfrm>
          <a:prstGeom prst="roundRect">
            <a:avLst>
              <a:gd name="adj" fmla="val 9259"/>
            </a:avLst>
          </a:prstGeom>
          <a:solidFill>
            <a:srgbClr val="DCE7ED"/>
          </a:solidFill>
          <a:ln/>
        </p:spPr>
      </p:sp>
      <p:sp>
        <p:nvSpPr>
          <p:cNvPr id="40" name="Text 38"/>
          <p:cNvSpPr/>
          <p:nvPr/>
        </p:nvSpPr>
        <p:spPr>
          <a:xfrm>
            <a:off x="2011680" y="4562856"/>
            <a:ext cx="20848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151376" y="4562856"/>
            <a:ext cx="2084832" cy="493776"/>
          </a:xfrm>
          <a:prstGeom prst="roundRect">
            <a:avLst>
              <a:gd name="adj" fmla="val 9259"/>
            </a:avLst>
          </a:prstGeom>
          <a:solidFill>
            <a:srgbClr val="DCE7ED"/>
          </a:solidFill>
          <a:ln/>
        </p:spPr>
      </p:sp>
      <p:sp>
        <p:nvSpPr>
          <p:cNvPr id="42" name="Text 40"/>
          <p:cNvSpPr/>
          <p:nvPr/>
        </p:nvSpPr>
        <p:spPr>
          <a:xfrm>
            <a:off x="4151376" y="4562856"/>
            <a:ext cx="20848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291072" y="4562856"/>
            <a:ext cx="2084832" cy="493776"/>
          </a:xfrm>
          <a:prstGeom prst="roundRect">
            <a:avLst>
              <a:gd name="adj" fmla="val 9259"/>
            </a:avLst>
          </a:prstGeom>
          <a:solidFill>
            <a:srgbClr val="E8A33D"/>
          </a:solidFill>
          <a:ln/>
        </p:spPr>
      </p:sp>
      <p:sp>
        <p:nvSpPr>
          <p:cNvPr id="44" name="Text 42"/>
          <p:cNvSpPr/>
          <p:nvPr/>
        </p:nvSpPr>
        <p:spPr>
          <a:xfrm>
            <a:off x="6291072" y="4562856"/>
            <a:ext cx="20848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430768" y="4562856"/>
            <a:ext cx="2084832" cy="493776"/>
          </a:xfrm>
          <a:prstGeom prst="roundRect">
            <a:avLst>
              <a:gd name="adj" fmla="val 9259"/>
            </a:avLst>
          </a:prstGeom>
          <a:solidFill>
            <a:srgbClr val="DCE7ED"/>
          </a:solidFill>
          <a:ln/>
        </p:spPr>
      </p:sp>
      <p:sp>
        <p:nvSpPr>
          <p:cNvPr id="46" name="Text 44"/>
          <p:cNvSpPr/>
          <p:nvPr/>
        </p:nvSpPr>
        <p:spPr>
          <a:xfrm>
            <a:off x="8430768" y="4562856"/>
            <a:ext cx="20848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0570464" y="4562856"/>
            <a:ext cx="2084832" cy="493776"/>
          </a:xfrm>
          <a:prstGeom prst="roundRect">
            <a:avLst>
              <a:gd name="adj" fmla="val 9259"/>
            </a:avLst>
          </a:prstGeom>
          <a:solidFill>
            <a:srgbClr val="DCE7ED"/>
          </a:solidFill>
          <a:ln/>
        </p:spPr>
      </p:sp>
      <p:sp>
        <p:nvSpPr>
          <p:cNvPr id="48" name="Text 46"/>
          <p:cNvSpPr/>
          <p:nvPr/>
        </p:nvSpPr>
        <p:spPr>
          <a:xfrm>
            <a:off x="10570464" y="4562856"/>
            <a:ext cx="20848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48640" y="5129784"/>
            <a:ext cx="1371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4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2011680" y="5129784"/>
            <a:ext cx="2084832" cy="493776"/>
          </a:xfrm>
          <a:prstGeom prst="roundRect">
            <a:avLst>
              <a:gd name="adj" fmla="val 9259"/>
            </a:avLst>
          </a:prstGeom>
          <a:solidFill>
            <a:srgbClr val="DCE7ED"/>
          </a:solidFill>
          <a:ln/>
        </p:spPr>
      </p:sp>
      <p:sp>
        <p:nvSpPr>
          <p:cNvPr id="51" name="Text 49"/>
          <p:cNvSpPr/>
          <p:nvPr/>
        </p:nvSpPr>
        <p:spPr>
          <a:xfrm>
            <a:off x="2011680" y="5129784"/>
            <a:ext cx="20848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151376" y="5129784"/>
            <a:ext cx="2084832" cy="493776"/>
          </a:xfrm>
          <a:prstGeom prst="roundRect">
            <a:avLst>
              <a:gd name="adj" fmla="val 9259"/>
            </a:avLst>
          </a:prstGeom>
          <a:solidFill>
            <a:srgbClr val="DCE7ED"/>
          </a:solidFill>
          <a:ln/>
        </p:spPr>
      </p:sp>
      <p:sp>
        <p:nvSpPr>
          <p:cNvPr id="53" name="Text 51"/>
          <p:cNvSpPr/>
          <p:nvPr/>
        </p:nvSpPr>
        <p:spPr>
          <a:xfrm>
            <a:off x="4151376" y="5129784"/>
            <a:ext cx="20848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291072" y="5129784"/>
            <a:ext cx="2084832" cy="493776"/>
          </a:xfrm>
          <a:prstGeom prst="roundRect">
            <a:avLst>
              <a:gd name="adj" fmla="val 9259"/>
            </a:avLst>
          </a:prstGeom>
          <a:solidFill>
            <a:srgbClr val="DCE7ED"/>
          </a:solidFill>
          <a:ln/>
        </p:spPr>
      </p:sp>
      <p:sp>
        <p:nvSpPr>
          <p:cNvPr id="55" name="Text 53"/>
          <p:cNvSpPr/>
          <p:nvPr/>
        </p:nvSpPr>
        <p:spPr>
          <a:xfrm>
            <a:off x="6291072" y="5129784"/>
            <a:ext cx="20848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8430768" y="5129784"/>
            <a:ext cx="2084832" cy="493776"/>
          </a:xfrm>
          <a:prstGeom prst="roundRect">
            <a:avLst>
              <a:gd name="adj" fmla="val 9259"/>
            </a:avLst>
          </a:prstGeom>
          <a:solidFill>
            <a:srgbClr val="E8A33D"/>
          </a:solidFill>
          <a:ln/>
        </p:spPr>
      </p:sp>
      <p:sp>
        <p:nvSpPr>
          <p:cNvPr id="57" name="Text 55"/>
          <p:cNvSpPr/>
          <p:nvPr/>
        </p:nvSpPr>
        <p:spPr>
          <a:xfrm>
            <a:off x="8430768" y="5129784"/>
            <a:ext cx="20848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10570464" y="5129784"/>
            <a:ext cx="2084832" cy="493776"/>
          </a:xfrm>
          <a:prstGeom prst="roundRect">
            <a:avLst>
              <a:gd name="adj" fmla="val 9259"/>
            </a:avLst>
          </a:prstGeom>
          <a:solidFill>
            <a:srgbClr val="DCE7ED"/>
          </a:solidFill>
          <a:ln/>
        </p:spPr>
      </p:sp>
      <p:sp>
        <p:nvSpPr>
          <p:cNvPr id="59" name="Text 57"/>
          <p:cNvSpPr/>
          <p:nvPr/>
        </p:nvSpPr>
        <p:spPr>
          <a:xfrm>
            <a:off x="10570464" y="5129784"/>
            <a:ext cx="20848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48640" y="5696712"/>
            <a:ext cx="1371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5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2011680" y="5696712"/>
            <a:ext cx="2084832" cy="493776"/>
          </a:xfrm>
          <a:prstGeom prst="roundRect">
            <a:avLst>
              <a:gd name="adj" fmla="val 9259"/>
            </a:avLst>
          </a:prstGeom>
          <a:solidFill>
            <a:srgbClr val="DCE7ED"/>
          </a:solidFill>
          <a:ln/>
        </p:spPr>
      </p:sp>
      <p:sp>
        <p:nvSpPr>
          <p:cNvPr id="62" name="Text 60"/>
          <p:cNvSpPr/>
          <p:nvPr/>
        </p:nvSpPr>
        <p:spPr>
          <a:xfrm>
            <a:off x="2011680" y="5696712"/>
            <a:ext cx="20848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4151376" y="5696712"/>
            <a:ext cx="2084832" cy="493776"/>
          </a:xfrm>
          <a:prstGeom prst="roundRect">
            <a:avLst>
              <a:gd name="adj" fmla="val 9259"/>
            </a:avLst>
          </a:prstGeom>
          <a:solidFill>
            <a:srgbClr val="DCE7ED"/>
          </a:solidFill>
          <a:ln/>
        </p:spPr>
      </p:sp>
      <p:sp>
        <p:nvSpPr>
          <p:cNvPr id="64" name="Text 62"/>
          <p:cNvSpPr/>
          <p:nvPr/>
        </p:nvSpPr>
        <p:spPr>
          <a:xfrm>
            <a:off x="4151376" y="5696712"/>
            <a:ext cx="20848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6291072" y="5696712"/>
            <a:ext cx="2084832" cy="493776"/>
          </a:xfrm>
          <a:prstGeom prst="roundRect">
            <a:avLst>
              <a:gd name="adj" fmla="val 9259"/>
            </a:avLst>
          </a:prstGeom>
          <a:solidFill>
            <a:srgbClr val="DCE7ED"/>
          </a:solidFill>
          <a:ln/>
        </p:spPr>
      </p:sp>
      <p:sp>
        <p:nvSpPr>
          <p:cNvPr id="66" name="Text 64"/>
          <p:cNvSpPr/>
          <p:nvPr/>
        </p:nvSpPr>
        <p:spPr>
          <a:xfrm>
            <a:off x="6291072" y="5696712"/>
            <a:ext cx="20848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8430768" y="5696712"/>
            <a:ext cx="2084832" cy="493776"/>
          </a:xfrm>
          <a:prstGeom prst="roundRect">
            <a:avLst>
              <a:gd name="adj" fmla="val 9259"/>
            </a:avLst>
          </a:prstGeom>
          <a:solidFill>
            <a:srgbClr val="DCE7ED"/>
          </a:solidFill>
          <a:ln/>
        </p:spPr>
      </p:sp>
      <p:sp>
        <p:nvSpPr>
          <p:cNvPr id="68" name="Text 66"/>
          <p:cNvSpPr/>
          <p:nvPr/>
        </p:nvSpPr>
        <p:spPr>
          <a:xfrm>
            <a:off x="8430768" y="5696712"/>
            <a:ext cx="20848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10570464" y="5696712"/>
            <a:ext cx="2084832" cy="493776"/>
          </a:xfrm>
          <a:prstGeom prst="roundRect">
            <a:avLst>
              <a:gd name="adj" fmla="val 9259"/>
            </a:avLst>
          </a:prstGeom>
          <a:solidFill>
            <a:srgbClr val="E8A33D"/>
          </a:solidFill>
          <a:ln/>
        </p:spPr>
      </p:sp>
      <p:sp>
        <p:nvSpPr>
          <p:cNvPr id="70" name="Text 68"/>
          <p:cNvSpPr/>
          <p:nvPr/>
        </p:nvSpPr>
        <p:spPr>
          <a:xfrm>
            <a:off x="10570464" y="5696712"/>
            <a:ext cx="20848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548640" y="64008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fold gets one turn as the validation/test set — no data point is wasted.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THE PAYOFF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scores are more trustworthy than one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6751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554480"/>
            <a:ext cx="4114800" cy="4023360"/>
          </a:xfrm>
          <a:prstGeom prst="roundRect">
            <a:avLst>
              <a:gd name="adj" fmla="val 2727"/>
            </a:avLst>
          </a:prstGeom>
          <a:solidFill>
            <a:srgbClr val="21295C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0" y="18745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D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ACCURACY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772400" y="214884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92%</a:t>
            </a:r>
            <a:endParaRPr lang="en-US" sz="6200" dirty="0"/>
          </a:p>
        </p:txBody>
      </p:sp>
      <p:sp>
        <p:nvSpPr>
          <p:cNvPr id="8" name="Text 5"/>
          <p:cNvSpPr/>
          <p:nvPr/>
        </p:nvSpPr>
        <p:spPr>
          <a:xfrm>
            <a:off x="7772400" y="3246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(91 + 94 + 92 + 90 + 93) / 5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772400" y="3794760"/>
            <a:ext cx="329184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0" y="397764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now say: the model's average cross-validation accuracy is approximately 92% — a far more reliable figure than any single split.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CONSISTENCY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average accuracy, very different reliability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also reveals variance — whether a model's performance holds steady across folds or swings wildly.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965960"/>
          <a:ext cx="66751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498080" y="196596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4F7F9"/>
          </a:solidFill>
          <a:ln w="12700">
            <a:solidFill>
              <a:srgbClr val="E1E8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26680" y="2103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726680" y="2377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90.4%   ·   Std ≈ 0.5%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26680" y="27432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variation → more consistent, more trustworthy.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498080" y="384048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4F7F9"/>
          </a:solidFill>
          <a:ln w="12700">
            <a:solidFill>
              <a:srgbClr val="E1E8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26680" y="3977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7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726680" y="4251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87.2%   ·   Std ≈ 8.5%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726680" y="461772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variation → results depend heavily on which fold you got.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" y="58064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scores.mean()  →  average performance        scores.std()  →  how much scores vary between folds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IMBALANCED CLASSES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Stratified K-Fold keeps class balance intact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plain random folds, an imbalanced class (e.g. fraud = 10%) can vanish from — or flood — a single fold. </a:t>
            </a:r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StratifiedKFold</a:t>
            </a:r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preserves the original proportion in every fold.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194560"/>
          <a:ext cx="66751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8978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students · 80 Pass / 20 Fail, split 5 ways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498080" y="2194560"/>
            <a:ext cx="4114800" cy="3703320"/>
          </a:xfrm>
          <a:prstGeom prst="roundRect">
            <a:avLst>
              <a:gd name="adj" fmla="val 2963"/>
            </a:avLst>
          </a:prstGeom>
          <a:solidFill>
            <a:srgbClr val="21295C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0" y="24231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D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0" y="283464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Ordinary KFold shuffles rows blindly — a fold could end up all-Normal or all-Fraud.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Stratification keeps ~90% Normal / ~10% Fraud (or 80/20 Pass-Fail) in every single fold.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gives every round a fair, representative test set.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default for classification tasks in scikit-learn's cross_val_score.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WHEN TO USE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Reach for cross-validation when...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F4F7F9"/>
          </a:solidFill>
          <a:ln w="12700">
            <a:solidFill>
              <a:srgbClr val="E1E8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185623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isn't huge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2221992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only ~500–1,000 rows, holding out a big chunk purely for validation wastes data. CV reuses every row for both training and testing.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89320" y="160020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F4F7F9"/>
          </a:solidFill>
          <a:ln w="12700">
            <a:solidFill>
              <a:srgbClr val="E1E8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8745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95160" y="185623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models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95160" y="2221992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Regression, Decision Tree, Random Forest, SVM — score them all under the same CV strategy for a fair, apples-to-apples comparison.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F4F7F9"/>
          </a:solidFill>
          <a:ln w="12700">
            <a:solidFill>
              <a:srgbClr val="E1E8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1148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409651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hyperparameters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4462272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testing n_estimators = 50 / 100 / 200 for a Random Forest and picking the value with the best CV accuracy.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989320" y="384048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F4F7F9"/>
          </a:solidFill>
          <a:ln w="12700">
            <a:solidFill>
              <a:srgbClr val="E1E8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41148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95160" y="409651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model stability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95160" y="4462272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that's consistent across folds (low std) is more trustworthy than one with the same mean but wild swings.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TRADE-OFFS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Cross-Validation vs. a Simple Split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212080" cy="4114800"/>
          </a:xfrm>
          <a:prstGeom prst="roundRect">
            <a:avLst>
              <a:gd name="adj" fmla="val 2667"/>
            </a:avLst>
          </a:prstGeom>
          <a:solidFill>
            <a:srgbClr val="F4F7F9"/>
          </a:solidFill>
          <a:ln w="12700">
            <a:solidFill>
              <a:srgbClr val="E1E8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83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SPLIT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6634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80/20 split, one evaluation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— trains the model only once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very large datasets (e.g. 10M+ rows)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can be lucky or unlucky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35040" y="1554480"/>
            <a:ext cx="5577840" cy="4114800"/>
          </a:xfrm>
          <a:prstGeom prst="roundRect">
            <a:avLst>
              <a:gd name="adj" fmla="val 2667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6309360" y="1783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FD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09360" y="224028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splits, K evaluations, then averaged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compute — trains the model K times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small/medium datasets, model &amp; hyperparameter comparison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estimate + a measure of consistency (std)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choice depends on dataset size, compute budget, model complexity, and how precise the estimate needs to be.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4206240"/>
            <a:ext cx="4206240" cy="4206240"/>
          </a:xfrm>
          <a:prstGeom prst="ellipse">
            <a:avLst/>
          </a:prstGeom>
          <a:solidFill>
            <a:srgbClr val="1C7293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D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IN PRACTICE &amp; TAKEAWAY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cross_val_score() in one 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2880360"/>
          </a:xfrm>
          <a:prstGeom prst="roundRect">
            <a:avLst>
              <a:gd name="adj" fmla="val 2540"/>
            </a:avLst>
          </a:prstGeom>
          <a:solidFill>
            <a:srgbClr val="10182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37360"/>
            <a:ext cx="5029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B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cross_val_score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 = cross_val_score(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FD7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model, X, y,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FD7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cv=5, scoring="accuracy"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print("Mean:", scores.mean())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print("Std:", scores.std())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4572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[0.956  0.965  0.974  0.947  0.973]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55080" y="1554480"/>
            <a:ext cx="0" cy="3383280"/>
          </a:xfrm>
          <a:prstGeom prst="line">
            <a:avLst/>
          </a:prstGeom>
          <a:noFill/>
          <a:ln w="12700">
            <a:solidFill>
              <a:srgbClr val="1C7293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6766560" y="16002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FD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766560" y="196596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“Cross-validation checks whether our model performs consistently across different subsets of the data — rather than depending on one lucky train-test split.”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766560" y="379476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data into K folds, evaluate K times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StratifiedKFold for classification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mean (performance) and std (consistency)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2026-09-09T03:17:30Z</dcterms:created>
  <dcterms:modified xsi:type="dcterms:W3CDTF">2026-09-09T03:17:30Z</dcterms:modified>
</cp:coreProperties>
</file>