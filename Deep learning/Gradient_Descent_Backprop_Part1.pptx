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Weight moves toward 4 each iteration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</c:v>
                </c:pt>
              </c:strCache>
            </c:strRef>
          </c:tx>
          <c:spPr>
            <a:solidFill>
              <a:srgbClr val="6D4AFF"/>
            </a:solidFill>
            <a:ln w="38100" cap="flat">
              <a:solidFill>
                <a:srgbClr val="6D4A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D4AFF"/>
              </a:solidFill>
              <a:ln w="9525" cap="flat">
                <a:solidFill>
                  <a:srgbClr val="6D4A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0.8</c:v>
                </c:pt>
                <c:pt idx="2">
                  <c:v>1.44</c:v>
                </c:pt>
                <c:pt idx="3">
                  <c:v>1.952</c:v>
                </c:pt>
                <c:pt idx="4">
                  <c:v>2.362</c:v>
                </c:pt>
                <c:pt idx="5">
                  <c:v>2.689</c:v>
                </c:pt>
                <c:pt idx="6">
                  <c:v>2.951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F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5E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6D4AFF">
              <a:alpha val="70000"/>
            </a:srgbClr>
          </a:solidFill>
          <a:ln w="12700">
            <a:solidFill>
              <a:srgbClr val="6D4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A541">
              <a:alpha val="9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6D4AFF">
              <a:alpha val="70000"/>
            </a:srgbClr>
          </a:solidFill>
          <a:ln w="12700">
            <a:solidFill>
              <a:srgbClr val="6D4A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2296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(Part 1)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learns from its mistakes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 |  Deep Learning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weights and biases to improve predictions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Optimization?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57276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Gradients &amp; Partial Derivatives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624328"/>
            <a:ext cx="457200" cy="45720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423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62432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423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vs Global Minima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75888"/>
            <a:ext cx="457200" cy="45720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Family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7588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 vs Gradient Descent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What Is Optimization?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best weights &amp; biases to minimize the loss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optimization loop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2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 current weights &amp; biases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loss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2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gradients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2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 &amp; biases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2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loss is small enough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80160"/>
          <a:ext cx="3200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start out wrong.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0" y="347472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62356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= overall process.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= one popular algorithm for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Gradients &amp; Partial Derivatives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how the loss changes when parameters change — and which direction to move weights/biases to reduce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↑ raises loss → decrease it. Weight ↑ lowers loss → increase it.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derivative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function changes when ONE variable changes while the others stay constant.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combines the partial derivatives of all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554480"/>
          </a:xfrm>
          <a:prstGeom prst="roundRect">
            <a:avLst>
              <a:gd name="adj" fmla="val 529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L(w, b) = (w − 4)² + (b − 2)²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 = 2(w − 4)          ∂L/∂b = 2(b − 2)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uses these gradients to update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Computing Gradients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1, b = 0   with   L = (w−4)² + (b−2)²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(1−4)² + (0−2)²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9 + 4 = 13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2(1−4)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−6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2(0−2)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−4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4754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0" y="32918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623560" y="32918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gradients are negative: increasing either parameter toward its target reduces this loss.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Learning Rate (η or α)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parameters change in each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w_new = w_old − η · ∂L/∂w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1, gradient = −6, η = 0.1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w_new = 1 − 0.1(−6) = 1.6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2240280"/>
          <a:ext cx="4663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may be 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learn stably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work well for some problems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overshoot or diverge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only — the best learning rate depends on the model, dataset, scaling and optimizer.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Learning-Rate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teaching a model to tell cats from dogs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10972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691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small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updates; may take a long time to converge.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51760" cy="109728"/>
          </a:xfrm>
          <a:prstGeom prst="rect">
            <a:avLst/>
          </a:prstGeom>
          <a:solidFill>
            <a:srgbClr val="1E8E6B"/>
          </a:solidFill>
          <a:ln w="12700">
            <a:solidFill>
              <a:srgbClr val="1E8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691640"/>
            <a:ext cx="457200" cy="457200"/>
          </a:xfrm>
          <a:prstGeom prst="ellipse">
            <a:avLst/>
          </a:prstGeom>
          <a:solidFill>
            <a:srgbClr val="1E8E6B"/>
          </a:solidFill>
          <a:ln w="12700">
            <a:solidFill>
              <a:srgbClr val="1E8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Appropriate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progress toward a minimum with stable training.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26517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16916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large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over the minimum; loss fluctuates or increases.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controls how much weights change after each training step.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Gradient Descent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parameters opposite to the gradient to reduce the loss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θ_new = θ_old − η ∇L(θ)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parameters (weights &amp; biases), η = learning rate, ∇L = gradient of the loss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206240" cy="2103120"/>
          </a:xfrm>
          <a:prstGeom prst="roundRect">
            <a:avLst>
              <a:gd name="adj" fmla="val 3913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L(w) = (w−4)²,  dL/dw = 2(w−4)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 = 0, η = 0.1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1: w = 0.8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2: w = 1.44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3: w = 1.952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at w = 4 (loss = 0)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846320" y="128016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Local vs Global Minima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point in a nearby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point in the entire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points elsewhere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may settle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achievable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in complex landscapes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be hard to find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8182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L(w) = (w−4)² has its global minimum at w = 4, where L = 0. Picture a landscape of valleys: a small valley is a local minimum, the deepest is the global 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Neural Networks?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networks have complex, non-convex loss 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minima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Saddle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regions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6656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Steep regions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468880"/>
            <a:ext cx="4023360" cy="2103120"/>
          </a:xfrm>
          <a:prstGeom prst="roundRect">
            <a:avLst>
              <a:gd name="adj" fmla="val 391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2468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 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where the gradient can be zero even though it is neither a local minimum nor a maximum.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does not guarantee reaching the global minimum. Practically, a good solution with sufficiently low loss is the goal.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Gradient Descent Family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in how much data is used per 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09728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GD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dataset per update (10,000 records → 1 update).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Stable gradients, full information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Expensive for large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34747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2651760" cy="10972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GD (SGD)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example per update.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Frequent updates, starts learning fast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Noisy; loss fluctuates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34747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2651760" cy="109728"/>
          </a:xfrm>
          <a:prstGeom prst="rect">
            <a:avLst/>
          </a:prstGeom>
          <a:solidFill>
            <a:srgbClr val="1E8E6B"/>
          </a:solidFill>
          <a:ln w="12700">
            <a:solidFill>
              <a:srgbClr val="1E8E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Mini-Batch GD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 per update (e.g. 100 records).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Efficient, stable, GPU-friendly, widely used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Need to choose batch size; some variation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Variants Compared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per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to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to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 on large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single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efficient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3840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per epoch = ⌈ samples ÷ batch size 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÷ 100 = 100 mini-batches per epoch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94960" y="384048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53212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&amp; RMSprop build on gradient-based optimization with adaptive updates.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Backpropagation vs Gradient Descent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3619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39696" y="1188720"/>
            <a:ext cx="153619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185416" y="11887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calculation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22192" y="1188720"/>
            <a:ext cx="1536192" cy="868680"/>
          </a:xfrm>
          <a:prstGeom prst="roundRect">
            <a:avLst>
              <a:gd name="adj" fmla="val 9474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67912" y="11887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04688" y="1188720"/>
            <a:ext cx="1536192" cy="868680"/>
          </a:xfrm>
          <a:prstGeom prst="roundRect">
            <a:avLst>
              <a:gd name="adj" fmla="val 9474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550408" y="11887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87184" y="1188720"/>
            <a:ext cx="153619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32904" y="11887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Backpropagation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Calculates gradients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gradients to update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the chain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an update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how loss changes with each 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how parameters should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neural network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Minimizes loss via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636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tells us how parameters affect the loss. Gradient descent uses that to improve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finds parameters that minimize loss; gradient descent is one method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show how loss changes; update: w_new = w_old − η · gradient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too small = slow, too large = overshoot or diverge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 is the deep-learning standard; backprop computes the gradients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Part 2 — Backpropagation in depth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 &amp; Backpropagation (Part 1)</dc:title>
  <dc:subject>PptxGenJS Presentation</dc:subject>
  <dc:creator>PptxGenJS</dc:creator>
  <cp:lastModifiedBy>PptxGenJS</cp:lastModifiedBy>
  <cp:revision>1</cp:revision>
  <dcterms:created xsi:type="dcterms:W3CDTF">2026-10-16T03:39:38Z</dcterms:created>
  <dcterms:modified xsi:type="dcterms:W3CDTF">2026-10-16T03:39:38Z</dcterms:modified>
</cp:coreProperties>
</file>