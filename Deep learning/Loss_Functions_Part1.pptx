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1B4B"/>
                </a:solidFill>
                <a:latin typeface="Arial"/>
              </a:rPr>
              <a:t>Loss vs predicted probability (actual = 1)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 (y = 1)</c:v>
                </c:pt>
              </c:strCache>
            </c:strRef>
          </c:tx>
          <c:spPr>
            <a:solidFill>
              <a:srgbClr val="6D4AFF"/>
            </a:solidFill>
            <a:ln w="38100" cap="flat">
              <a:solidFill>
                <a:srgbClr val="6D4A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D4AFF"/>
              </a:solidFill>
              <a:ln w="9525" cap="flat">
                <a:solidFill>
                  <a:srgbClr val="6D4A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0.1</c:v>
                  </c:pt>
                  <c:pt idx="1">
                    <c:v>0.2</c:v>
                  </c:pt>
                  <c:pt idx="2">
                    <c:v>0.3</c:v>
                  </c:pt>
                  <c:pt idx="3">
                    <c:v>0.5</c:v>
                  </c:pt>
                  <c:pt idx="4">
                    <c:v>0.7</c:v>
                  </c:pt>
                  <c:pt idx="5">
                    <c:v>0.9</c:v>
                  </c:pt>
                  <c:pt idx="6">
                    <c:v>0.99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2.303</c:v>
                </c:pt>
                <c:pt idx="1">
                  <c:v>1.609</c:v>
                </c:pt>
                <c:pt idx="2">
                  <c:v>1.204</c:v>
                </c:pt>
                <c:pt idx="3">
                  <c:v>0.693</c:v>
                </c:pt>
                <c:pt idx="4">
                  <c:v>0.357</c:v>
                </c:pt>
                <c:pt idx="5">
                  <c:v>0.105</c:v>
                </c:pt>
                <c:pt idx="6">
                  <c:v>0.01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41F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75E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48640"/>
            <a:ext cx="2011680" cy="2011680"/>
          </a:xfrm>
          <a:prstGeom prst="ellipse">
            <a:avLst/>
          </a:prstGeom>
          <a:solidFill>
            <a:srgbClr val="6D4AFF">
              <a:alpha val="70000"/>
            </a:srgbClr>
          </a:solidFill>
          <a:ln w="12700">
            <a:solidFill>
              <a:srgbClr val="6D4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194560"/>
            <a:ext cx="1280160" cy="1280160"/>
          </a:xfrm>
          <a:prstGeom prst="ellipse">
            <a:avLst/>
          </a:prstGeom>
          <a:solidFill>
            <a:srgbClr val="F2A541">
              <a:alpha val="90000"/>
            </a:srgbClr>
          </a:solidFill>
          <a:ln w="12700">
            <a:solidFill>
              <a:srgbClr val="F2A5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3108960"/>
            <a:ext cx="914400" cy="914400"/>
          </a:xfrm>
          <a:prstGeom prst="ellipse">
            <a:avLst/>
          </a:prstGeom>
          <a:solidFill>
            <a:srgbClr val="6D4AFF">
              <a:alpha val="70000"/>
            </a:srgbClr>
          </a:solidFill>
          <a:ln w="12700">
            <a:solidFill>
              <a:srgbClr val="6D4A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(Part 1)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MSE, MAE &amp; Cross-Entropy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Machine Learning  |  Session 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Loss Function?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gap between actual and predicted output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marks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8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marks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80 − 70 = 10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294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0175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function calculates how incorrect a prediction is. During training, the model adjusts its weights and biases to reduce this loss.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Loss Fits in Training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0" y="109728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965960" y="10972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0972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hours, attendance, assignments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6459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810512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965960" y="18105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8105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+ biases + activations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3591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2523744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965960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Output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52374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marks = 70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0723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3236976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965960" y="32369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2369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actual vs predicted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7856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950208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965960" y="39502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&amp; Optimization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39502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 to reduce loss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22500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prediction error.  Optimizer (Gradient Descent, Adam) uses its gradients to update parameters.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Loss Functions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by the type of problem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use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Squared Error (MSE)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Absolute Error (MAE)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Cross-Entropy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Cross-Entropy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Multiclass classification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14800"/>
            <a:ext cx="7863840" cy="640080"/>
          </a:xfrm>
          <a:prstGeom prst="roundRect">
            <a:avLst>
              <a:gd name="adj" fmla="val 12857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predicts numbers.  Classification predicts categories.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Squared Error (MSE)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squared differences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= (1/n) Σ (yᵢ − ŷᵢ)²      n = observations, y = actual, ŷ = predicted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28016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Squared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2286000"/>
            <a:ext cx="2834640" cy="1536192"/>
          </a:xfrm>
          <a:prstGeom prst="roundRect">
            <a:avLst>
              <a:gd name="adj" fmla="val 5357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85216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(100+25+25) / 3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= 50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MSE generally means better predictions on the same dataset. Example: house prices, where big errors must be penalized strongly.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Square the Error?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1554480"/>
            <a:ext cx="457200" cy="45720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Signs don't cancel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and positive errors don't offset each other.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55448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errors hurt more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651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errors receive a greater penalty.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5176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23760" y="1554480"/>
            <a:ext cx="457200" cy="45720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 for gradients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651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error is smooth and useful for gradient-based optimization.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Absolute Error (MAE)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absolute differences — every error made positive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= (1/n) Σ |yᵢ − ŷᵢ|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28016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2286000"/>
            <a:ext cx="2834640" cy="1536192"/>
          </a:xfrm>
          <a:prstGeom prst="roundRect">
            <a:avLst>
              <a:gd name="adj" fmla="val 5357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85216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(10+5+5) / 3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834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= 6.67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prediction error ≈ 6.67 marks.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vs MAE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calculation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Squared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Penalized more heavily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Penalized proportionally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Squared units (Marks²)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target (Marks)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sensitive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sensitive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11880"/>
            <a:ext cx="4023360" cy="1097280"/>
          </a:xfrm>
          <a:prstGeom prst="roundRect">
            <a:avLst>
              <a:gd name="adj" fmla="val 7500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663440" y="3611880"/>
            <a:ext cx="4023360" cy="1097280"/>
          </a:xfrm>
          <a:prstGeom prst="roundRect">
            <a:avLst>
              <a:gd name="adj" fmla="val 7500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MSE when large errors need a stronger penalty.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MAE for an easy-to-read average error and more robustness to outliers.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Cross-Entropy Loss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classification — checks if predicted probabilities match the actual classes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1371600"/>
            <a:ext cx="40233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is actually SPAM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prob = 0.90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 prob = 0.10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Good prediction, LOW loss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email, bad model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745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prob = 0.10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Bad prediction, HIGH loss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" y="35661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(BCE)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3566160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63440" y="35661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 (CCE)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Cross-Entropy (BCE)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classes: 0 and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0" cy="731520"/>
          </a:xfrm>
          <a:prstGeom prst="roundRect">
            <a:avLst>
              <a:gd name="adj" fmla="val 11250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−[ y·log(p) + (1−y)·log(1−p) 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actual class (0/1),  p = predicted probability of class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834640" y="246888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48640" y="24688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Spam, p = 0.90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−log(0.90)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0.1054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loss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4688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Spam, p = 0.10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−log(0.10)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2.3026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loss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212080" y="1280160"/>
          <a:ext cx="35661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spam, fraud, disease detection, customer churn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 → 1 for a true positive, loss → 0. Confidently wrong predictions give very large loss.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Cross-Entropy (CCE)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more mutually exclusive classes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F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One-hot: y = [0, 1, 0]     p = [0.1, 0.8, 0.1]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37760" y="1280160"/>
            <a:ext cx="3749040" cy="2286000"/>
          </a:xfrm>
          <a:prstGeom prst="roundRect">
            <a:avLst>
              <a:gd name="adj" fmla="val 36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937760" y="1371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−Σ yᵢ log(pᵢ)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19202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= Banana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−log(0.80)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2651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0.2231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3794760"/>
            <a:ext cx="8229600" cy="960120"/>
          </a:xfrm>
          <a:prstGeom prst="roundRect">
            <a:avLst>
              <a:gd name="adj" fmla="val 8571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0080" y="379476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loss: 80% probability given to the correct class.  Examples: cat/dog/bird, digits 0–9, news topics.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categorical cross-entropy is a related variant that accepts integer labels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in Python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manual calculation matches scikit-learn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(manual &amp; sklearn)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(manual &amp; sklearn)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Cross-Entropy (p = 0.90)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Cross-Entropy (Banana)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77640"/>
            <a:ext cx="7863840" cy="731520"/>
          </a:xfrm>
          <a:prstGeom prst="roundRect">
            <a:avLst>
              <a:gd name="adj" fmla="val 11250"/>
            </a:avLst>
          </a:prstGeom>
          <a:solidFill>
            <a:srgbClr val="E6E1FA"/>
          </a:solidFill>
          <a:ln w="12700">
            <a:solidFill>
              <a:srgbClr val="E6E1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compute loss for single observations; frameworks average loss across a batch.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Select the Right Loss Function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2918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109728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house prices, marks, sales, temperature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MSE or MAE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32918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280160"/>
            <a:ext cx="2651760" cy="10972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classification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classes, e.g. spam / not spam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Binary Cross-Entropy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329184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80160"/>
            <a:ext cx="2651760" cy="10972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Multiclass classification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out of three or more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Categorical or Sparse Categorical Cross-Entropy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highlighted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07592"/>
            <a:ext cx="411480" cy="41148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— which loss?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325880"/>
            <a:ext cx="2377440" cy="384048"/>
          </a:xfrm>
          <a:prstGeom prst="rect">
            <a:avLst/>
          </a:prstGeom>
          <a:solidFill>
            <a:srgbClr val="E6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993392"/>
            <a:ext cx="411480" cy="41148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202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10, predicted 7 — squared error?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011680"/>
            <a:ext cx="2377440" cy="384048"/>
          </a:xfrm>
          <a:prstGeom prst="rect">
            <a:avLst/>
          </a:prstGeom>
          <a:solidFill>
            <a:srgbClr val="E6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79192"/>
            <a:ext cx="411480" cy="41148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6060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 not spam — common loss?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97480"/>
            <a:ext cx="2377440" cy="384048"/>
          </a:xfrm>
          <a:prstGeom prst="rect">
            <a:avLst/>
          </a:prstGeom>
          <a:solidFill>
            <a:srgbClr val="E6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364992"/>
            <a:ext cx="411480" cy="41148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2918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loss penalizes large errors more?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383280"/>
            <a:ext cx="2377440" cy="384048"/>
          </a:xfrm>
          <a:prstGeom prst="rect">
            <a:avLst/>
          </a:prstGeom>
          <a:solidFill>
            <a:srgbClr val="E6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050792"/>
            <a:ext cx="411480" cy="41148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9776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one of five fruit categories — loss?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4069080"/>
            <a:ext cx="2377440" cy="384048"/>
          </a:xfrm>
          <a:prstGeom prst="rect">
            <a:avLst/>
          </a:prstGeom>
          <a:solidFill>
            <a:srgbClr val="E6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61872"/>
            <a:ext cx="502920" cy="50292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how far predictions are from actual values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39112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65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squares errors → penalizes large errors more; MAE = average absolute error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502920" cy="50292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for two classes; CCE for mutually exclusive multiclass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93592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0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uses loss gradients to update weights and biases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implement MSE, MAE &amp; BCE in a neural network and watch loss fall over epochs.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Loss Functions (Part 1)</dc:title>
  <dc:subject>PptxGenJS Presentation</dc:subject>
  <dc:creator>PptxGenJS</dc:creator>
  <cp:lastModifiedBy>PptxGenJS</cp:lastModifiedBy>
  <cp:revision>1</cp:revision>
  <dcterms:created xsi:type="dcterms:W3CDTF">2026-10-14T04:04:45Z</dcterms:created>
  <dcterms:modified xsi:type="dcterms:W3CDTF">2026-10-14T04:04:45Z</dcterms:modified>
</cp:coreProperties>
</file>