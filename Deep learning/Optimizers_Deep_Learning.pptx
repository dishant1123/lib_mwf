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4213D"/>
                </a:solidFill>
                <a:latin typeface="Arial"/>
              </a:rPr>
              <a:t>New weight (start 0.5, gradient 0.8)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weight</c:v>
                </c:pt>
              </c:strCache>
            </c:strRef>
          </c:tx>
          <c:spPr>
            <a:solidFill>
              <a:srgbClr val="2F6FE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η=0.01</c:v>
                  </c:pt>
                  <c:pt idx="1">
                    <c:v>η=0.1</c:v>
                  </c:pt>
                  <c:pt idx="2">
                    <c:v>η=0.5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0.492</c:v>
                </c:pt>
                <c:pt idx="1">
                  <c:v>0.42</c:v>
                </c:pt>
                <c:pt idx="2">
                  <c:v>0.1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548640"/>
            <a:ext cx="2011680" cy="2011680"/>
          </a:xfrm>
          <a:prstGeom prst="ellipse">
            <a:avLst/>
          </a:prstGeom>
          <a:solidFill>
            <a:srgbClr val="2F6FED">
              <a:alpha val="70000"/>
            </a:srgbClr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2194560"/>
            <a:ext cx="1280160" cy="1280160"/>
          </a:xfrm>
          <a:prstGeom prst="ellipse">
            <a:avLst/>
          </a:prstGeom>
          <a:solidFill>
            <a:srgbClr val="F2A541">
              <a:alpha val="90000"/>
            </a:srgbClr>
          </a:solidFill>
          <a:ln w="12700">
            <a:solidFill>
              <a:srgbClr val="F2A54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3108960"/>
            <a:ext cx="914400" cy="914400"/>
          </a:xfrm>
          <a:prstGeom prst="ellipse">
            <a:avLst/>
          </a:prstGeom>
          <a:solidFill>
            <a:srgbClr val="2F6FED">
              <a:alpha val="70000"/>
            </a:srgbClr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Optimizers in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SGD, Momentum, RMSProp &amp; Adam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1E9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|  Session Notes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What Is Optimization?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weights &amp; biases to minimize the loss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E1E9FB"/>
          </a:solidFill>
          <a:ln w="12700">
            <a:solidFill>
              <a:srgbClr val="E1E9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studies 8 hrs and passes, but the model predicts pass probability 0.30 → poor prediction. The optimizer adjusts weights and biases to improve future predictions.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84048" cy="38404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76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2801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propagation: predict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847088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76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847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calculation: measure error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414016"/>
            <a:ext cx="384048" cy="38404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76" dirty="0"/>
          </a:p>
        </p:txBody>
      </p:sp>
      <p:sp>
        <p:nvSpPr>
          <p:cNvPr id="14" name="Text 12"/>
          <p:cNvSpPr txBox="1"/>
          <p:nvPr/>
        </p:nvSpPr>
        <p:spPr>
          <a:xfrm>
            <a:off x="5166360" y="24140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Backpropagation: compute gradients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980944"/>
            <a:ext cx="384048" cy="38404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6344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76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29809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Optimization: update weights &amp; biases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547872"/>
            <a:ext cx="384048" cy="384048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76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35478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over many iterations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31089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calculates gradients.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uses them to update parameters.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What Is an Optimizer?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that updates trainable parameters using backprop gradients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737360"/>
          </a:xfrm>
          <a:prstGeom prst="roundRect">
            <a:avLst>
              <a:gd name="adj" fmla="val 4737"/>
            </a:avLst>
          </a:prstGeom>
          <a:solidFill>
            <a:srgbClr val="E1E9FB"/>
          </a:solidFill>
          <a:ln w="12700">
            <a:solidFill>
              <a:srgbClr val="E1E9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effective optimization: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may learn slowly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 may stay high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may be unstable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Suitable weights hard to find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82296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63440" y="12801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w_new = w − η · ∂L/∂w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2286000"/>
            <a:ext cx="402336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2860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0.5, gradient = 0.8, η = 0.1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1371600"/>
          </a:xfrm>
          <a:prstGeom prst="roundRect">
            <a:avLst>
              <a:gd name="adj" fmla="val 6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w_new = 0.5 − (0.1 × 0.8) = 0.42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gradient descent. Advanced optimizers also use past gradients or recent gradient magnitudes.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The Learning Rate (η)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size of parameter updates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572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9456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0.5 − 0.01×0.8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0.5 − 0.1×0.8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0.5 − 0.5×0.8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212080" y="1188720"/>
          <a:ext cx="34747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70332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3703320"/>
            <a:ext cx="91440" cy="100584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7033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small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training, many epochs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291840" y="370332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91840" y="3703320"/>
            <a:ext cx="91440" cy="1005840"/>
          </a:xfrm>
          <a:prstGeom prst="rect">
            <a:avLst/>
          </a:prstGeom>
          <a:solidFill>
            <a:srgbClr val="1E8E6B"/>
          </a:solidFill>
          <a:ln w="12700">
            <a:solidFill>
              <a:srgbClr val="1E8E6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520440" y="37033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convergence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3703320"/>
            <a:ext cx="2651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126480" y="3703320"/>
            <a:ext cx="9144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55080" y="37033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large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Overshoots; loss fluctuates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rate depends on the model, dataset and optimizer.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Stochastic Gradient Descent (SGD)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using single examples or (usually) mini-batches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731520"/>
          </a:xfrm>
          <a:prstGeom prst="roundRect">
            <a:avLst>
              <a:gd name="adj" fmla="val 112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w_new = w − η · g_t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E9FB"/>
          </a:solidFill>
          <a:ln w="12700">
            <a:solidFill>
              <a:srgbClr val="E1E9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21488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0.8, η = 0.1, g = 0.4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w_new = 0.8 − 0.04 = 0.76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46320" y="1280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optimization method when you are prepared to tune the learning rate and other training settings.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29184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memory needed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control over updates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3832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converge slower than adaptive optimizers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can fluctuate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learning rate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Momentum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 memory of past gradients — like a ball rolling downhill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v_t = β·v_(t−1) + g_t        w_t = w_(t−1) − η·v_t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E9FB"/>
          </a:solidFill>
          <a:ln w="12700">
            <a:solidFill>
              <a:srgbClr val="E1E9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21488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v_prev = 0.5, g = 0.4, β = 0.9, η = 0.1, w = 0.8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0.45 + 0.4 = 0.85  →  w = 0.715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00600" y="21488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SGD(learning_rate=0.01,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momentum=0.9)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SGD with Momentum, not a separate class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29184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in consistent directions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reduces oscillations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beat plain SGD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3832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momentum coefficient tuning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settings can still destabilize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RMSProp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rate per parameter via moving average of squared gradients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1125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s_t = ρ·s_(t−1) + (1−ρ)·g_t²        w_t = w_(t−1) − η/(√s_t + ε) · g_t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E9FB"/>
          </a:solidFill>
          <a:ln w="12700">
            <a:solidFill>
              <a:srgbClr val="E1E9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21488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0.4, s = 0.16, η = 0.01, w = 0.8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√0.16 = 0.4 → step 0.01 → w = 0.79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00600" y="21488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consistent gradients → smaller updates. Small gradients → relatively larger updates.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291840"/>
            <a:ext cx="4023360" cy="1508760"/>
          </a:xfrm>
          <a:prstGeom prst="roundRect">
            <a:avLst>
              <a:gd name="adj" fmla="val 5455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33832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rates per parameter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when gradient magnitudes vary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RNNs &amp; tough optimization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3832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tuning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always better than SGD or Adam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Adam (Adaptive Moment Estimation)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Momentum-like tracking + adaptive scaling by squared gradients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754880" cy="2011680"/>
          </a:xfrm>
          <a:prstGeom prst="roundRect">
            <a:avLst>
              <a:gd name="adj" fmla="val 409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m_t = β₁m_(t−1) + (1−β₁)g_t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v_t = β₂v_(t−1) + (1−β₂)g_t²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m̂_t = m_t/(1−β₁ᵗ)    v̂_t = v_t/(1−β₂ᵗ)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w_t = w_(t−1) − η·m̂_t/(√v̂_t + ε)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280160"/>
          <a:ext cx="32918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3152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moment (gradients)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moment (squared)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Epsilon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 stability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520440"/>
            <a:ext cx="8229600" cy="1143000"/>
          </a:xfrm>
          <a:prstGeom prst="roundRect">
            <a:avLst>
              <a:gd name="adj" fmla="val 7200"/>
            </a:avLst>
          </a:prstGeom>
          <a:solidFill>
            <a:srgbClr val="E1E9FB"/>
          </a:solidFill>
          <a:ln w="12700">
            <a:solidFill>
              <a:srgbClr val="E1E9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352044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moment = moving average of gradients. Second moment = moving average of squared gradients. Bias corrections fix early-step underestimates. Defaults are common, not universally optimal.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Adam: Strengths &amp; Cautions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E6F3EC"/>
          </a:solidFill>
          <a:ln w="12700">
            <a:solidFill>
              <a:srgbClr val="E6F3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280160"/>
            <a:ext cx="4023360" cy="2377440"/>
          </a:xfrm>
          <a:prstGeom prst="roundRect">
            <a:avLst>
              <a:gd name="adj" fmla="val 3462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8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momentum + adaptive learning rates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converges quickly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little initial tuning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 images, text and tabular data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37160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generalize worse than tuned SGD in some tasks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learning-rate and regularization choices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memory for gradient statistics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starting point and strong baseline for many projects — not guaranteed best for every problem.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Four Optimizers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554480"/>
                <a:gridCol w="164592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previous gradients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Squared gradients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Gradients + squared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per-parameter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oscillations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learning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advantage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+ momentum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SGD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optimization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rates are starting points, not rules. Momentum is usually a configuration of SGD; RMSProp and Adam keep adaptive statistics.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Epoch, Batch Size &amp; Iteration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 pass through the training dataset (e.g. all 800 records once).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size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processed before one optimizer update (e.g. 32).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F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7373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optimizer update (one batch).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529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Iterations per epoch = ⌈800 / 32⌉ = 25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 ≈ 250 optimizer updates (exact count depends on how batches are handled).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61872"/>
            <a:ext cx="502920" cy="50292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61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computes gradients; the optimizer updates the weights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84832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48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011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too small = slow, too large = unstable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502920" cy="502920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07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34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smooths SGD; RMSProp and Adam adapt per parameter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30752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4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is a strong default; compare optimizers on your own data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Optimizers in Deep Learning</dc:title>
  <dc:subject>PptxGenJS Presentation</dc:subject>
  <dc:creator>PptxGenJS</dc:creator>
  <cp:lastModifiedBy>PptxGenJS</cp:lastModifiedBy>
  <cp:revision>1</cp:revision>
  <dcterms:created xsi:type="dcterms:W3CDTF">2026-10-27T02:37:19Z</dcterms:created>
  <dcterms:modified xsi:type="dcterms:W3CDTF">2026-10-27T02:37:19Z</dcterms:modified>
</cp:coreProperties>
</file>