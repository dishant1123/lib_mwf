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233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233"/>
                </a:solidFill>
                <a:latin typeface="Arial"/>
              </a:rPr>
              <a:t>Parameters per layer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Params</c:v>
                </c:pt>
              </c:strCache>
            </c:strRef>
          </c:tx>
          <c:spPr>
            <a:solidFill>
              <a:srgbClr val="F26B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Layer 1</c:v>
                  </c:pt>
                  <c:pt idx="1">
                    <c:v>Layer 2</c:v>
                  </c:pt>
                  <c:pt idx="2">
                    <c:v>Layer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</c:v>
                </c:pt>
                <c:pt idx="1">
                  <c:v>136</c:v>
                </c:pt>
                <c:pt idx="2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48640"/>
            <a:ext cx="2011680" cy="2011680"/>
          </a:xfrm>
          <a:prstGeom prst="ellipse">
            <a:avLst/>
          </a:prstGeom>
          <a:solidFill>
            <a:srgbClr val="F26B1D">
              <a:alpha val="70000"/>
            </a:srgbClr>
          </a:solidFill>
          <a:ln w="12700">
            <a:solidFill>
              <a:srgbClr val="F26B1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2194560"/>
            <a:ext cx="1280160" cy="1280160"/>
          </a:xfrm>
          <a:prstGeom prst="ellipse">
            <a:avLst/>
          </a:prstGeom>
          <a:solidFill>
            <a:srgbClr val="F2B84B">
              <a:alpha val="90000"/>
            </a:srgbClr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3108960"/>
            <a:ext cx="914400" cy="914400"/>
          </a:xfrm>
          <a:prstGeom prst="ellipse">
            <a:avLst/>
          </a:prstGeom>
          <a:solidFill>
            <a:srgbClr val="F26B1D">
              <a:alpha val="70000"/>
            </a:srgbClr>
          </a:solidFill>
          <a:ln w="12700">
            <a:solidFill>
              <a:srgbClr val="F26B1D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 &amp; Keras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neural network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|  Session Notes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predict whether a customer will purchase a product using an ANN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99616"/>
            <a:ext cx="411480" cy="41148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996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3716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499616"/>
            <a:ext cx="411480" cy="411480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996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6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3716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402336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322576"/>
            <a:ext cx="411480" cy="41148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322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6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1945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TensorFlow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2194560"/>
            <a:ext cx="402336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322576"/>
            <a:ext cx="411480" cy="411480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322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60" dirty="0"/>
          </a:p>
        </p:txBody>
      </p:sp>
      <p:sp>
        <p:nvSpPr>
          <p:cNvPr id="19" name="Text 17"/>
          <p:cNvSpPr txBox="1"/>
          <p:nvPr/>
        </p:nvSpPr>
        <p:spPr>
          <a:xfrm>
            <a:off x="5440680" y="21945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&amp; models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402336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145536"/>
            <a:ext cx="411480" cy="41148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145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6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017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vs Functional API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3017520"/>
            <a:ext cx="402336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145536"/>
            <a:ext cx="411480" cy="411480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46320" y="3145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5440680" y="3017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summary &amp; parameter count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402336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3968496"/>
            <a:ext cx="411480" cy="41148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3968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6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38404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placement (CPU/GPU)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663440" y="3840480"/>
            <a:ext cx="402336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968496"/>
            <a:ext cx="411480" cy="411480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46320" y="3968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60" dirty="0"/>
          </a:p>
        </p:txBody>
      </p:sp>
      <p:sp>
        <p:nvSpPr>
          <p:cNvPr id="35" name="Text 33"/>
          <p:cNvSpPr txBox="1"/>
          <p:nvPr/>
        </p:nvSpPr>
        <p:spPr>
          <a:xfrm>
            <a:off x="5440680" y="38404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practical example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What is TensorFlow?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ML / deep learning framework from Google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oundRect">
            <a:avLst>
              <a:gd name="adj" fmla="val 11250"/>
            </a:avLst>
          </a:prstGeom>
          <a:solidFill>
            <a:srgbClr val="FCE8D9"/>
          </a:solidFill>
          <a:ln w="12700">
            <a:solidFill>
              <a:srgbClr val="FCE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us build, train and deploy machine learning and deep learning models.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Networks (ANNs)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228600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74720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for image classification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28600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09360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NLP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" y="3474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large datasets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347472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474720" y="3474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 training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47472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09360" y="3474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models into applications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Project: Customer Purchase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purchase probability for a new customer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120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55448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B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B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visits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B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B1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280160"/>
            <a:ext cx="2834640" cy="2468880"/>
          </a:xfrm>
          <a:prstGeom prst="roundRect">
            <a:avLst>
              <a:gd name="adj" fmla="val 3333"/>
            </a:avLst>
          </a:prstGeom>
          <a:solidFill>
            <a:srgbClr val="FCE8D9"/>
          </a:solidFill>
          <a:ln w="12700">
            <a:solidFill>
              <a:srgbClr val="FCE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989320" y="1280160"/>
            <a:ext cx="2560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Age, Monthly salary, Website visits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Purchased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did not purchase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purchased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1250"/>
            </a:avLst>
          </a:prstGeom>
          <a:solidFill>
            <a:srgbClr val="1E2233"/>
          </a:solidFill>
          <a:ln w="12700">
            <a:solidFill>
              <a:srgbClr val="1E22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inputs → neural network → purchase probability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What is Keras?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API to create, train and evaluate neural networks — used via tf.keras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B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B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High-level API for building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Tensors, autodiff, GPU support, training infrastructure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Convenient layers, models, training methods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complex, customized computations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 network development easier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use lower-level operations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Commonly used through tf.keras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49040"/>
            <a:ext cx="4754880" cy="1005840"/>
          </a:xfrm>
          <a:prstGeom prst="roundRect">
            <a:avLst>
              <a:gd name="adj" fmla="val 8182"/>
            </a:avLst>
          </a:prstGeom>
          <a:solidFill>
            <a:srgbClr val="1E2233"/>
          </a:solidFill>
          <a:ln w="12700">
            <a:solidFill>
              <a:srgbClr val="1E22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94360" y="37490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tensorflow as tf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tensorflow import keras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tensorflow.keras import layers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0" y="3749040"/>
            <a:ext cx="3200400" cy="1005840"/>
          </a:xfrm>
          <a:prstGeom prst="roundRect">
            <a:avLst>
              <a:gd name="adj" fmla="val 8182"/>
            </a:avLst>
          </a:prstGeom>
          <a:solidFill>
            <a:srgbClr val="FCE8D9"/>
          </a:solidFill>
          <a:ln w="12700">
            <a:solidFill>
              <a:srgbClr val="FCE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623560" y="3749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→ Dense, Dropout, Flatten …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Installing TensorFlow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731520"/>
          </a:xfrm>
          <a:prstGeom prst="roundRect">
            <a:avLst>
              <a:gd name="adj" fmla="val 11250"/>
            </a:avLst>
          </a:prstGeom>
          <a:solidFill>
            <a:srgbClr val="1E2233"/>
          </a:solidFill>
          <a:ln w="12700">
            <a:solidFill>
              <a:srgbClr val="1E22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tensorflow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4023360" cy="731520"/>
          </a:xfrm>
          <a:prstGeom prst="roundRect">
            <a:avLst>
              <a:gd name="adj" fmla="val 11250"/>
            </a:avLst>
          </a:prstGeom>
          <a:solidFill>
            <a:srgbClr val="1E2233"/>
          </a:solidFill>
          <a:ln w="12700">
            <a:solidFill>
              <a:srgbClr val="1E22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00600" y="15544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%pip install tensorflow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14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version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4023360" cy="731520"/>
          </a:xfrm>
          <a:prstGeom prst="roundRect">
            <a:avLst>
              <a:gd name="adj" fmla="val 11250"/>
            </a:avLst>
          </a:prstGeom>
          <a:solidFill>
            <a:srgbClr val="1E2233"/>
          </a:solidFill>
          <a:ln w="12700">
            <a:solidFill>
              <a:srgbClr val="1E22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94360" y="28803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print(tf.__version__)   # 2.x.x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514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GPU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4023360" cy="731520"/>
          </a:xfrm>
          <a:prstGeom prst="roundRect">
            <a:avLst>
              <a:gd name="adj" fmla="val 11250"/>
            </a:avLst>
          </a:prstGeom>
          <a:solidFill>
            <a:srgbClr val="1E2233"/>
          </a:solidFill>
          <a:ln w="12700">
            <a:solidFill>
              <a:srgbClr val="1E22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800600" y="28803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tf.config.list_physical_devices('GPU')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10588"/>
            </a:avLst>
          </a:prstGeom>
          <a:solidFill>
            <a:srgbClr val="FCE8D9"/>
          </a:solidFill>
          <a:ln w="12700">
            <a:solidFill>
              <a:srgbClr val="FCE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39319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GPU list = no compatible GPU detected. GPU setup depends on OS, hardware, drivers and TensorFlow version. CPU is enough for this session.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Keras Layers &amp; Models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 processes input and passes the result to the next layer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931920"/>
                <a:gridCol w="256032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B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B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B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connected 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Dense(16)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Randomly disables units to reduce overfitting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Dropout(0.2)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Multidimensional → 1D vector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Flatten()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Conv2D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Extracts features from images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Conv2D(32,(3,3))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MaxPooling2D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spatial dimensions in CNNs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MaxPooling2D()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input data shape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Input(shape=(3,))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uses Dense layers.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Layer &amp; Model Structure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828800"/>
          </a:xfrm>
          <a:prstGeom prst="roundRect">
            <a:avLst>
              <a:gd name="adj" fmla="val 4500"/>
            </a:avLst>
          </a:prstGeom>
          <a:solidFill>
            <a:srgbClr val="FCE8D9"/>
          </a:solidFill>
          <a:ln w="12700">
            <a:solidFill>
              <a:srgbClr val="FCE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Dense(8, activation='relu')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connected: every neuron connects to every output of the previous layer. 8 neurons, ReLU activation.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663440" y="1188720"/>
            <a:ext cx="40233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846320" y="11887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ReLU(x) = max(0, x)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input → 0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input → unchanged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1536192" cy="1005840"/>
          </a:xfrm>
          <a:prstGeom prst="roundRect">
            <a:avLst>
              <a:gd name="adj" fmla="val 8182"/>
            </a:avLst>
          </a:prstGeom>
          <a:solidFill>
            <a:srgbClr val="FCE8D9"/>
          </a:solidFill>
          <a:ln w="12700">
            <a:solidFill>
              <a:srgbClr val="FCE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02920" y="338328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39696" y="3383280"/>
            <a:ext cx="1536192" cy="1005840"/>
          </a:xfrm>
          <a:prstGeom prst="roundRect">
            <a:avLst>
              <a:gd name="adj" fmla="val 8182"/>
            </a:avLst>
          </a:prstGeom>
          <a:solidFill>
            <a:srgbClr val="1E2233"/>
          </a:solidFill>
          <a:ln w="12700">
            <a:solidFill>
              <a:srgbClr val="1E22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185416" y="338328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· 16 neurons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22192" y="3383280"/>
            <a:ext cx="1536192" cy="1005840"/>
          </a:xfrm>
          <a:prstGeom prst="roundRect">
            <a:avLst>
              <a:gd name="adj" fmla="val 8182"/>
            </a:avLst>
          </a:prstGeom>
          <a:solidFill>
            <a:srgbClr val="1E2233"/>
          </a:solidFill>
          <a:ln w="12700">
            <a:solidFill>
              <a:srgbClr val="1E22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867912" y="338328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· 8 neurons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04688" y="3383280"/>
            <a:ext cx="1536192" cy="1005840"/>
          </a:xfrm>
          <a:prstGeom prst="roundRect">
            <a:avLst>
              <a:gd name="adj" fmla="val 8182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550408" y="338328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· 1 neuron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87184" y="3383280"/>
            <a:ext cx="1536192" cy="1005840"/>
          </a:xfrm>
          <a:prstGeom prst="roundRect">
            <a:avLst>
              <a:gd name="adj" fmla="val 8182"/>
            </a:avLst>
          </a:prstGeom>
          <a:solidFill>
            <a:srgbClr val="FCE8D9"/>
          </a:solidFill>
          <a:ln w="12700">
            <a:solidFill>
              <a:srgbClr val="FCE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232904" y="338328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probability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5A. Sequential API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layers one after another in a linear sequence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206240" cy="2286000"/>
          </a:xfrm>
          <a:prstGeom prst="roundRect">
            <a:avLst>
              <a:gd name="adj" fmla="val 3600"/>
            </a:avLst>
          </a:prstGeom>
          <a:solidFill>
            <a:srgbClr val="1E2233"/>
          </a:solidFill>
          <a:ln w="12700">
            <a:solidFill>
              <a:srgbClr val="1E22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Sequential([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Input(shape=(3,)),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Dense(16, activation='relu'),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Dense(8,  activation='relu'),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Dense(1,  activation='sigmoid')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model.summary()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280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Input(shape=(3,)) → 3 features per customer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8470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Dense(16) → first hidden layer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241401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Dense(8) → second hidden layer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98094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Dense(1, sigmoid) → probability 0–1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1E2233"/>
          </a:solidFill>
          <a:ln w="12700">
            <a:solidFill>
              <a:srgbClr val="1E22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σ(x) = 1 / (1 + e^−x)     Prediction 0.85 → 85% purchase probability → class 1 at threshold 0.5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5B. Functional API vs Sequential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Functional: multiple inputs/outputs and branching connections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206240" cy="1554480"/>
          </a:xfrm>
          <a:prstGeom prst="roundRect">
            <a:avLst>
              <a:gd name="adj" fmla="val 5294"/>
            </a:avLst>
          </a:prstGeom>
          <a:solidFill>
            <a:srgbClr val="1E2233"/>
          </a:solidFill>
          <a:ln w="12700">
            <a:solidFill>
              <a:srgbClr val="1E22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 = Input(shape=(3,))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Dense(16, activation='relu')(inputs)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Dense(8, activation='relu')(x)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 = Dense(1, activation='sigmoid')(x)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Model(inputs, outputs)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80160"/>
          <a:ext cx="3840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B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B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B1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connections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 inputs/outputs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flexible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ANN/CNN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networks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108960"/>
            <a:ext cx="4206240" cy="1645920"/>
          </a:xfrm>
          <a:prstGeom prst="roundRect">
            <a:avLst>
              <a:gd name="adj" fmla="val 5000"/>
            </a:avLst>
          </a:prstGeom>
          <a:solidFill>
            <a:srgbClr val="FCE8D9"/>
          </a:solidFill>
          <a:ln w="12700">
            <a:solidFill>
              <a:srgbClr val="FCE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310896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 as the Sequential model above.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3657600"/>
            <a:ext cx="3840480" cy="1097280"/>
          </a:xfrm>
          <a:prstGeom prst="roundRect">
            <a:avLst>
              <a:gd name="adj" fmla="val 7500"/>
            </a:avLst>
          </a:prstGeom>
          <a:solidFill>
            <a:srgbClr val="1E2233"/>
          </a:solidFill>
          <a:ln w="12700">
            <a:solidFill>
              <a:srgbClr val="1E22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83480" y="36576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Sequential first; introduce Functional when models need multiple inputs/outputs or complex links.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Model Summary &amp; Parameter Count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model.summary() — parameters = weights + biases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40080"/>
          </a:xfrm>
          <a:prstGeom prst="roundRect">
            <a:avLst>
              <a:gd name="adj" fmla="val 12857"/>
            </a:avLst>
          </a:prstGeom>
          <a:solidFill>
            <a:srgbClr val="1E2233"/>
          </a:solidFill>
          <a:ln w="12700">
            <a:solidFill>
              <a:srgbClr val="1E22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Params = (input neurons × output neurons) + output neurons (biases)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5120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55448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B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shape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B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B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B1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(None, 16)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3×16 + 16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Dense_1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(None, 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16×8 + 8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Dense_2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(None, 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8×1 + 1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6B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5760720" y="1920240"/>
          <a:ext cx="292608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CE8D9"/>
          </a:solidFill>
          <a:ln w="12700">
            <a:solidFill>
              <a:srgbClr val="FCE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= variable batch size.  All 209 parameters are trainable (updated by the optimizer).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Device Placement: CPU vs GPU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663440" y="1188720"/>
            <a:ext cx="402336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6B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neural networks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computation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308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parallel deep learning operations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neural networks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 &amp; CNNs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training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name="adj" fmla="val 12857"/>
            </a:avLst>
          </a:prstGeom>
          <a:solidFill>
            <a:srgbClr val="1E2233"/>
          </a:solidFill>
          <a:ln w="12700">
            <a:solidFill>
              <a:srgbClr val="1E22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GPU is not necessarily faster for tiny computations — data transfer and setup add overhead.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Placing Computations on a Device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645920"/>
          </a:xfrm>
          <a:prstGeom prst="roundRect">
            <a:avLst>
              <a:gd name="adj" fmla="val 5000"/>
            </a:avLst>
          </a:prstGeom>
          <a:solidFill>
            <a:srgbClr val="1E2233"/>
          </a:solidFill>
          <a:ln w="12700">
            <a:solidFill>
              <a:srgbClr val="1E22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tf.device('/CPU:0'):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= tf.constant([10, 20, 30])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= tf.constant([1, 2, 3])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a +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926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tf.Tensor([11 22 33], shape=(3,), dtype=int32)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1645920"/>
          </a:xfrm>
          <a:prstGeom prst="roundRect">
            <a:avLst>
              <a:gd name="adj" fmla="val 5000"/>
            </a:avLst>
          </a:prstGeom>
          <a:solidFill>
            <a:srgbClr val="1E2233"/>
          </a:solidFill>
          <a:ln w="12700">
            <a:solidFill>
              <a:srgbClr val="1E22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00600" y="11887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tf.config.list_physical_devices('GPU'):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tf.device('/GPU:0'):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print("No compatible GPU. Use CPU.")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8229600" cy="1234440"/>
          </a:xfrm>
          <a:prstGeom prst="roundRect">
            <a:avLst>
              <a:gd name="adj" fmla="val 6667"/>
            </a:avLst>
          </a:prstGeom>
          <a:solidFill>
            <a:srgbClr val="FCE8D9"/>
          </a:solidFill>
          <a:ln w="12700">
            <a:solidFill>
              <a:srgbClr val="FCE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347472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Specifying a device does not guarantee every operation runs there — device support and TensorFlow configuration matter. List devices first with tf.config.list_physical_devices().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61872"/>
            <a:ext cx="502920" cy="50292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4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= framework; Keras (tf.keras) = easy high-level API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502920" cy="502920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4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011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for simple stacks; Functional for complex architectures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07792"/>
            <a:ext cx="502920" cy="50292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34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params = (in × out) + out; our model has 209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730752"/>
            <a:ext cx="502920" cy="502920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4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657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output for binary classification; CPU is fine for small models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TensorFlow &amp; Keras</dc:title>
  <dc:subject>PptxGenJS Presentation</dc:subject>
  <dc:creator>PptxGenJS</dc:creator>
  <cp:lastModifiedBy>PptxGenJS</cp:lastModifiedBy>
  <cp:revision>1</cp:revision>
  <dcterms:created xsi:type="dcterms:W3CDTF">2026-10-29T02:40:46Z</dcterms:created>
  <dcterms:modified xsi:type="dcterms:W3CDTF">2026-10-29T02:40:46Z</dcterms:modified>
</cp:coreProperties>
</file>