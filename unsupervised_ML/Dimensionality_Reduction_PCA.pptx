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3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A3D"/>
                </a:solidFill>
                <a:latin typeface="Arial"/>
              </a:rPr>
              <a:t>Scales differ wildly (max value)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value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Age</c:v>
                  </c:pt>
                  <c:pt idx="1">
                    <c:v>Spending Score</c:v>
                  </c:pt>
                  <c:pt idx="2">
                    <c:v>Income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100</c:v>
                </c:pt>
                <c:pt idx="2">
                  <c:v>200000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B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3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A3D"/>
                </a:solidFill>
                <a:latin typeface="Arial"/>
              </a:rPr>
              <a:t>Eigenvalue = importance of direction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Eigenvalue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PC1</c:v>
                  </c:pt>
                  <c:pt idx="1">
                    <c:v>PC2</c:v>
                  </c:pt>
                  <c:pt idx="2">
                    <c:v>PC3</c:v>
                  </c:pt>
                  <c:pt idx="3">
                    <c:v>PC4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2</c:v>
                </c:pt>
                <c:pt idx="2">
                  <c:v>0.5</c:v>
                </c:pt>
                <c:pt idx="3">
                  <c:v>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B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3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A3D"/>
                </a:solidFill>
                <a:latin typeface="Arial"/>
              </a:rPr>
              <a:t>Explained variance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Explained variance (%)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PC1</c:v>
                  </c:pt>
                  <c:pt idx="1">
                    <c:v>PC2</c:v>
                  </c:pt>
                  <c:pt idx="2">
                    <c:v>PC3</c:v>
                  </c:pt>
                  <c:pt idx="3">
                    <c:v>PC4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30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B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48640"/>
            <a:ext cx="2011680" cy="2011680"/>
          </a:xfrm>
          <a:prstGeom prst="ellipse">
            <a:avLst/>
          </a:prstGeom>
          <a:solidFill>
            <a:srgbClr val="1B7F8C">
              <a:alpha val="70000"/>
            </a:srgbClr>
          </a:solidFill>
          <a:ln w="12700">
            <a:solidFill>
              <a:srgbClr val="1B7F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2194560"/>
            <a:ext cx="1280160" cy="1280160"/>
          </a:xfrm>
          <a:prstGeom prst="ellipse">
            <a:avLst/>
          </a:prstGeom>
          <a:solidFill>
            <a:srgbClr val="F2A541">
              <a:alpha val="90000"/>
            </a:srgbClr>
          </a:solidFill>
          <a:ln w="12700">
            <a:solidFill>
              <a:srgbClr val="F2A5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3108960"/>
            <a:ext cx="914400" cy="914400"/>
          </a:xfrm>
          <a:prstGeom prst="ellipse">
            <a:avLst/>
          </a:prstGeom>
          <a:solidFill>
            <a:srgbClr val="1B7F8C">
              <a:alpha val="70000"/>
            </a:srgbClr>
          </a:solidFill>
          <a:ln w="12700">
            <a:solidFill>
              <a:srgbClr val="1B7F8C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Dimensionality Reduction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PCA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features. Same story.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Machine Learning  |  Session Notes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Roadmap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 in two parts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83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Dimensionality Reduction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why we need it, the curse of dimensionality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352044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337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840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Workflow, scaling, variance, eigenvectors, explained variance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Dimensionality Reduction?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DCEBEF"/>
          </a:solidFill>
          <a:ln w="12700">
            <a:solidFill>
              <a:srgbClr val="DCEB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the number of features (columns) in a dataset while retaining as much useful information as possible.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371600"/>
                <a:gridCol w="1737360"/>
                <a:gridCol w="155448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Spending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Freq.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886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dimensions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3886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3886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dimensions (PC1, PC2)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visualization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It?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see 1D, 2D, 3D. Not 100D. PCA: 10 features → 2 PCs → scatter plot.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Curse of Dimensionality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0116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features: costly models, sparse data, weaker distance metrics.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Redundancy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7947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Height, Weight, BMI carry related info. PCA merges correlated variables.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320040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Reduction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7947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components with most variance; drop those with very little.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 discarded component is not always "noise". Low-variance info can still be useful.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Curse of Dimensionality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features is not always better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become computationally expensive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becomes sparse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 algorithms lose effectiveness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can increase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becomes difficult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8348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features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visualize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25146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983480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features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606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0" y="36576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98348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features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749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difficult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PCA?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the original features into new variables called Principal Components, each capturing the maximum remaining variance while being orthogonal to the previous ones.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63240"/>
            <a:ext cx="1554480" cy="457200"/>
          </a:xfrm>
          <a:prstGeom prst="rect">
            <a:avLst/>
          </a:prstGeom>
          <a:solidFill>
            <a:srgbClr val="DCEBE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39696" y="3063240"/>
            <a:ext cx="1554480" cy="457200"/>
          </a:xfrm>
          <a:prstGeom prst="rect">
            <a:avLst/>
          </a:prstGeom>
          <a:solidFill>
            <a:srgbClr val="DCEBE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822192" y="3063240"/>
            <a:ext cx="1554480" cy="457200"/>
          </a:xfrm>
          <a:prstGeom prst="rect">
            <a:avLst/>
          </a:prstGeom>
          <a:solidFill>
            <a:srgbClr val="DCEBE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Score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504688" y="3063240"/>
            <a:ext cx="1554480" cy="457200"/>
          </a:xfrm>
          <a:prstGeom prst="rect">
            <a:avLst/>
          </a:prstGeom>
          <a:solidFill>
            <a:srgbClr val="DCEBE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187184" y="3063240"/>
            <a:ext cx="1554480" cy="457200"/>
          </a:xfrm>
          <a:prstGeom prst="rect">
            <a:avLst/>
          </a:prstGeom>
          <a:solidFill>
            <a:srgbClr val="DCEBE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PCA  ▼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77640"/>
            <a:ext cx="1554480" cy="457200"/>
          </a:xfrm>
          <a:prstGeom prst="rect">
            <a:avLst/>
          </a:prstGeom>
          <a:solidFill>
            <a:srgbClr val="1B7F8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 keep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139696" y="3977640"/>
            <a:ext cx="1554480" cy="457200"/>
          </a:xfrm>
          <a:prstGeom prst="rect">
            <a:avLst/>
          </a:prstGeom>
          <a:solidFill>
            <a:srgbClr val="1B7F8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 keep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22192" y="3977640"/>
            <a:ext cx="1554480" cy="457200"/>
          </a:xfrm>
          <a:prstGeom prst="rect">
            <a:avLst/>
          </a:prstGeom>
          <a:solidFill>
            <a:srgbClr val="9AA7B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504688" y="3977640"/>
            <a:ext cx="1554480" cy="457200"/>
          </a:xfrm>
          <a:prstGeom prst="rect">
            <a:avLst/>
          </a:prstGeom>
          <a:solidFill>
            <a:srgbClr val="9AA7B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187184" y="3977640"/>
            <a:ext cx="1554480" cy="457200"/>
          </a:xfrm>
          <a:prstGeom prst="rect">
            <a:avLst/>
          </a:prstGeom>
          <a:solidFill>
            <a:srgbClr val="9AA7B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PC1 and PC2 if they retain enough information.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Example: 4D → 2D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394960" y="128016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PCA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SpendingScore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PCA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965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3383280"/>
            <a:ext cx="2926080" cy="731520"/>
          </a:xfrm>
          <a:prstGeom prst="rect">
            <a:avLst/>
          </a:prstGeom>
          <a:solidFill>
            <a:srgbClr val="DCEBE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plot PC1 vs PC2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2860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→ 2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Workflow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it in this order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53619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664208"/>
            <a:ext cx="457200" cy="45720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1945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numerical features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39696" y="1554480"/>
            <a:ext cx="153619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42616" y="1664208"/>
            <a:ext cx="457200" cy="45720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42616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212848" y="21945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22192" y="1554480"/>
            <a:ext cx="153619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5112" y="166420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2511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895344" y="21945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04688" y="1554480"/>
            <a:ext cx="153619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07608" y="1664208"/>
            <a:ext cx="457200" cy="45720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0760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21945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/ correlation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87184" y="1554480"/>
            <a:ext cx="153619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90104" y="1664208"/>
            <a:ext cx="457200" cy="45720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90104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60336" y="21945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&amp; eigenvectors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153619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0120" y="3310128"/>
            <a:ext cx="457200" cy="45720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" y="384048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principal components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139696" y="3200400"/>
            <a:ext cx="153619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642616" y="3310128"/>
            <a:ext cx="457200" cy="45720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42616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212848" y="384048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variance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22192" y="3200400"/>
            <a:ext cx="153619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25112" y="3310128"/>
            <a:ext cx="457200" cy="45720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25112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3895344" y="384048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# of components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504688" y="3200400"/>
            <a:ext cx="153619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07608" y="3310128"/>
            <a:ext cx="457200" cy="45720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07608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5577840" y="384048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dataset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187184" y="3200400"/>
            <a:ext cx="153619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90104" y="3310128"/>
            <a:ext cx="457200" cy="45720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690104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7260336" y="384048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/ use for ML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Dataset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StandardScaler Before PCA?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important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754880" y="13716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scaling, variables with larger scales dominate PCA. Income would drown out Age.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754880" y="246888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937760" y="256032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X_scaled = scaler.fit_transform(X)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 in PCA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 values vary?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[10, 10, 10, 10]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variation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463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[5, 10, 20, 30]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more variation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DCEBEF"/>
          </a:solidFill>
          <a:ln w="12700">
            <a:solidFill>
              <a:srgbClr val="DCEB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3108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finds directions (components) that capture the greatest amount of variation in the data.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794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Var(X) = E(X²) − [E(X)]²      e.g. σ = 1.4 → Var = 1.4² = 1.96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Covariance Matrix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two variables change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9260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↑  Spending ↑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covariance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↑  Spending ↓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covariance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3931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00584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754880" y="3931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uses this relationship structure to find the principal directions.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Eigenvalues &amp; Eigenvectors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27432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Eigenvector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direction in the transformed feature space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77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Eigenvalue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91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of variance tied to that direction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023360" y="1188720"/>
          <a:ext cx="46634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Components &amp; Loadings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variables built from combinations of the originals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7432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PC1 = 0.45 × Age + 0.50 × Income + 0.55 × Spending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PC2 = −0.60 × Age + 0.30 × Income + 0.70 × Spending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coefficients are called loadings. sklearn calculates them for you.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Explained Variance Ratio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information each PC explains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371600"/>
            <a:ext cx="3200400" cy="3108960"/>
          </a:xfrm>
          <a:prstGeom prst="roundRect">
            <a:avLst>
              <a:gd name="adj" fmla="val 2941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486400" y="1554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5715000" y="274320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+ PC2 = 50% + 30%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components retain 80% of the variance.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cuts features, keeps useful information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402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standardize before PCA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108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 = direction, eigenvalue = importance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9776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variance ratio guides how many PCs to keep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Dimensionality Reduction &amp; PCA</dc:title>
  <dc:subject>PptxGenJS Presentation</dc:subject>
  <dc:creator>PptxGenJS</dc:creator>
  <cp:lastModifiedBy>PptxGenJS</cp:lastModifiedBy>
  <cp:revision>1</cp:revision>
  <dcterms:created xsi:type="dcterms:W3CDTF">2026-09-28T03:12:45Z</dcterms:created>
  <dcterms:modified xsi:type="dcterms:W3CDTF">2026-09-28T03:12:45Z</dcterms:modified>
</cp:coreProperties>
</file>